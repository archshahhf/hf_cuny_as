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8"/>
  </p:notesMasterIdLst>
  <p:sldIdLst>
    <p:sldId id="256" r:id="rId2"/>
    <p:sldId id="258" r:id="rId3"/>
    <p:sldId id="272" r:id="rId4"/>
    <p:sldId id="257" r:id="rId5"/>
    <p:sldId id="259" r:id="rId6"/>
    <p:sldId id="266" r:id="rId7"/>
    <p:sldId id="267" r:id="rId8"/>
    <p:sldId id="264" r:id="rId9"/>
    <p:sldId id="265" r:id="rId10"/>
    <p:sldId id="263" r:id="rId11"/>
    <p:sldId id="260" r:id="rId12"/>
    <p:sldId id="273" r:id="rId13"/>
    <p:sldId id="271" r:id="rId14"/>
    <p:sldId id="268" r:id="rId15"/>
    <p:sldId id="270"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C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472" autoAdjust="0"/>
  </p:normalViewPr>
  <p:slideViewPr>
    <p:cSldViewPr snapToGrid="0">
      <p:cViewPr varScale="1">
        <p:scale>
          <a:sx n="94" d="100"/>
          <a:sy n="94" d="100"/>
        </p:scale>
        <p:origin x="123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2025</a:t>
            </a:r>
            <a:r>
              <a:rPr lang="en-US" baseline="0" dirty="0"/>
              <a:t> Quantitative &amp; Qualitative Metrics</a:t>
            </a:r>
            <a:endParaRPr lang="en-US" dirty="0"/>
          </a:p>
        </c:rich>
      </c:tx>
      <c:layout>
        <c:manualLayout>
          <c:xMode val="edge"/>
          <c:yMode val="edge"/>
          <c:x val="0.23901998558863555"/>
          <c:y val="3.3087754456555779E-3"/>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 2'!$B$1</c:f>
              <c:strCache>
                <c:ptCount val="1"/>
                <c:pt idx="0">
                  <c:v>Quality_Rate %</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 2'!$A$2:$A$6</c:f>
              <c:strCache>
                <c:ptCount val="5"/>
                <c:pt idx="0">
                  <c:v>Kavita</c:v>
                </c:pt>
                <c:pt idx="1">
                  <c:v>Ethan</c:v>
                </c:pt>
                <c:pt idx="2">
                  <c:v>Irene</c:v>
                </c:pt>
                <c:pt idx="3">
                  <c:v>Harish</c:v>
                </c:pt>
                <c:pt idx="4">
                  <c:v>Esha</c:v>
                </c:pt>
              </c:strCache>
            </c:strRef>
          </c:cat>
          <c:val>
            <c:numRef>
              <c:f>'Sheet 2'!$B$2:$B$6</c:f>
              <c:numCache>
                <c:formatCode>0.00</c:formatCode>
                <c:ptCount val="5"/>
                <c:pt idx="0">
                  <c:v>3.584229391</c:v>
                </c:pt>
                <c:pt idx="1">
                  <c:v>6.1919504639999996</c:v>
                </c:pt>
                <c:pt idx="2">
                  <c:v>6.2305295950000001</c:v>
                </c:pt>
                <c:pt idx="3">
                  <c:v>6.9400630909999999</c:v>
                </c:pt>
                <c:pt idx="4">
                  <c:v>7.4534161489999997</c:v>
                </c:pt>
              </c:numCache>
            </c:numRef>
          </c:val>
          <c:extLst>
            <c:ext xmlns:c16="http://schemas.microsoft.com/office/drawing/2014/chart" uri="{C3380CC4-5D6E-409C-BE32-E72D297353CC}">
              <c16:uniqueId val="{00000000-0906-4F50-ACBC-D2A0572A48DC}"/>
            </c:ext>
          </c:extLst>
        </c:ser>
        <c:ser>
          <c:idx val="1"/>
          <c:order val="1"/>
          <c:tx>
            <c:strRef>
              <c:f>'Sheet 2'!$C$1</c:f>
              <c:strCache>
                <c:ptCount val="1"/>
                <c:pt idx="0">
                  <c:v>Total_task_completion  </c:v>
                </c:pt>
              </c:strCache>
            </c:strRef>
          </c:tx>
          <c:spPr>
            <a:solidFill>
              <a:schemeClr val="accent6">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 2'!$A$2:$A$6</c:f>
              <c:strCache>
                <c:ptCount val="5"/>
                <c:pt idx="0">
                  <c:v>Kavita</c:v>
                </c:pt>
                <c:pt idx="1">
                  <c:v>Ethan</c:v>
                </c:pt>
                <c:pt idx="2">
                  <c:v>Irene</c:v>
                </c:pt>
                <c:pt idx="3">
                  <c:v>Harish</c:v>
                </c:pt>
                <c:pt idx="4">
                  <c:v>Esha</c:v>
                </c:pt>
              </c:strCache>
            </c:strRef>
          </c:cat>
          <c:val>
            <c:numRef>
              <c:f>'Sheet 2'!$C$2:$C$6</c:f>
              <c:numCache>
                <c:formatCode>General</c:formatCode>
                <c:ptCount val="5"/>
                <c:pt idx="0">
                  <c:v>14617</c:v>
                </c:pt>
                <c:pt idx="1">
                  <c:v>13073</c:v>
                </c:pt>
                <c:pt idx="2">
                  <c:v>14632</c:v>
                </c:pt>
                <c:pt idx="3">
                  <c:v>13012</c:v>
                </c:pt>
                <c:pt idx="4">
                  <c:v>20468</c:v>
                </c:pt>
              </c:numCache>
            </c:numRef>
          </c:val>
          <c:extLst>
            <c:ext xmlns:c16="http://schemas.microsoft.com/office/drawing/2014/chart" uri="{C3380CC4-5D6E-409C-BE32-E72D297353CC}">
              <c16:uniqueId val="{00000001-0906-4F50-ACBC-D2A0572A48DC}"/>
            </c:ext>
          </c:extLst>
        </c:ser>
        <c:dLbls>
          <c:dLblPos val="inEnd"/>
          <c:showLegendKey val="0"/>
          <c:showVal val="1"/>
          <c:showCatName val="0"/>
          <c:showSerName val="0"/>
          <c:showPercent val="0"/>
          <c:showBubbleSize val="0"/>
        </c:dLbls>
        <c:gapWidth val="100"/>
        <c:overlap val="-24"/>
        <c:axId val="1978148975"/>
        <c:axId val="1978153295"/>
      </c:barChart>
      <c:catAx>
        <c:axId val="197814897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78153295"/>
        <c:crosses val="autoZero"/>
        <c:auto val="1"/>
        <c:lblAlgn val="ctr"/>
        <c:lblOffset val="100"/>
        <c:noMultiLvlLbl val="0"/>
      </c:catAx>
      <c:valAx>
        <c:axId val="1978153295"/>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781489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diagrams/_rels/data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8B9E0C-D9C4-4759-8E01-021AFBB56F20}"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US"/>
        </a:p>
      </dgm:t>
    </dgm:pt>
    <dgm:pt modelId="{06582B8C-868B-45F0-8B3B-A09BF396250A}" type="pres">
      <dgm:prSet presAssocID="{F98B9E0C-D9C4-4759-8E01-021AFBB56F20}" presName="compositeShape" presStyleCnt="0">
        <dgm:presLayoutVars>
          <dgm:chMax val="7"/>
          <dgm:dir/>
          <dgm:resizeHandles val="exact"/>
        </dgm:presLayoutVars>
      </dgm:prSet>
      <dgm:spPr/>
    </dgm:pt>
  </dgm:ptLst>
  <dgm:cxnLst>
    <dgm:cxn modelId="{005663B3-E7F7-46FE-B153-401D0A2944B0}" type="presOf" srcId="{F98B9E0C-D9C4-4759-8E01-021AFBB56F20}" destId="{06582B8C-868B-45F0-8B3B-A09BF396250A}" srcOrd="0"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DAAB90-34DA-44E4-9C76-E48419DED574}" type="doc">
      <dgm:prSet loTypeId="urn:microsoft.com/office/officeart/2005/8/layout/gear1" loCatId="relationship" qsTypeId="urn:microsoft.com/office/officeart/2005/8/quickstyle/simple1" qsCatId="simple" csTypeId="urn:microsoft.com/office/officeart/2005/8/colors/accent1_2" csCatId="accent1" phldr="1"/>
      <dgm:spPr/>
    </dgm:pt>
    <dgm:pt modelId="{1C1E58A2-142A-4E4C-AA99-C1BBD0ADE2E7}">
      <dgm:prSet phldrT="[Text]" custT="1"/>
      <dgm:spPr>
        <a:solidFill>
          <a:schemeClr val="accent3"/>
        </a:solidFill>
      </dgm:spPr>
      <dgm:t>
        <a:bodyPr/>
        <a:lstStyle/>
        <a:p>
          <a:pPr>
            <a:buNone/>
          </a:pPr>
          <a:r>
            <a:rPr lang="en-US" sz="1100" b="1" i="0" dirty="0">
              <a:solidFill>
                <a:schemeClr val="tx1"/>
              </a:solidFill>
            </a:rPr>
            <a:t>Accountability</a:t>
          </a:r>
          <a:r>
            <a:rPr lang="en-US" sz="600" b="0" i="0" dirty="0"/>
            <a:t> </a:t>
          </a:r>
          <a:endParaRPr lang="en-US" sz="600" dirty="0"/>
        </a:p>
      </dgm:t>
    </dgm:pt>
    <dgm:pt modelId="{6885F8AB-9E7D-4518-A361-E5C25DFF573F}" type="parTrans" cxnId="{DB73D276-C626-4192-AE63-24AB9C7A755F}">
      <dgm:prSet/>
      <dgm:spPr/>
      <dgm:t>
        <a:bodyPr/>
        <a:lstStyle/>
        <a:p>
          <a:endParaRPr lang="en-US"/>
        </a:p>
      </dgm:t>
    </dgm:pt>
    <dgm:pt modelId="{532B3091-D609-4078-9796-4B117FF611C3}" type="sibTrans" cxnId="{DB73D276-C626-4192-AE63-24AB9C7A755F}">
      <dgm:prSet/>
      <dgm:spPr/>
      <dgm:t>
        <a:bodyPr/>
        <a:lstStyle/>
        <a:p>
          <a:endParaRPr lang="en-US"/>
        </a:p>
      </dgm:t>
    </dgm:pt>
    <dgm:pt modelId="{3E7E4D70-8238-4A61-A4E1-084A28747960}">
      <dgm:prSet phldrT="[Text]" custT="1"/>
      <dgm:spPr>
        <a:solidFill>
          <a:schemeClr val="accent1"/>
        </a:solidFill>
      </dgm:spPr>
      <dgm:t>
        <a:bodyPr/>
        <a:lstStyle/>
        <a:p>
          <a:r>
            <a:rPr lang="en-US" sz="900" b="1" i="0" dirty="0">
              <a:solidFill>
                <a:schemeClr val="tx1"/>
              </a:solidFill>
              <a:latin typeface="Abadi" panose="020F0502020204030204" pitchFamily="34" charset="0"/>
            </a:rPr>
            <a:t>Responsibility</a:t>
          </a:r>
          <a:endParaRPr lang="en-US" sz="900" b="1" dirty="0">
            <a:solidFill>
              <a:schemeClr val="tx1"/>
            </a:solidFill>
            <a:latin typeface="Abadi" panose="020F0502020204030204" pitchFamily="34" charset="0"/>
          </a:endParaRPr>
        </a:p>
      </dgm:t>
    </dgm:pt>
    <dgm:pt modelId="{A4AEEFBF-3A7D-460C-BA77-5AF9C9D5986E}" type="parTrans" cxnId="{3EC2D5DE-22DB-4125-A94C-2B56AA2A82EA}">
      <dgm:prSet/>
      <dgm:spPr/>
      <dgm:t>
        <a:bodyPr/>
        <a:lstStyle/>
        <a:p>
          <a:endParaRPr lang="en-US"/>
        </a:p>
      </dgm:t>
    </dgm:pt>
    <dgm:pt modelId="{41E13B40-8623-4E7F-BD3A-5E7C08A5C881}" type="sibTrans" cxnId="{3EC2D5DE-22DB-4125-A94C-2B56AA2A82EA}">
      <dgm:prSet/>
      <dgm:spPr/>
      <dgm:t>
        <a:bodyPr/>
        <a:lstStyle/>
        <a:p>
          <a:endParaRPr lang="en-US"/>
        </a:p>
      </dgm:t>
    </dgm:pt>
    <dgm:pt modelId="{CBF27AA3-36C1-4356-BE27-4F8C02FB215B}">
      <dgm:prSet phldrT="[Text]"/>
      <dgm:spPr/>
    </dgm:pt>
    <dgm:pt modelId="{C8B3820D-3FB1-443D-B81E-FD98937759F6}" type="parTrans" cxnId="{E54B123D-AC39-409D-89CF-F97EB7D95DAE}">
      <dgm:prSet/>
      <dgm:spPr/>
      <dgm:t>
        <a:bodyPr/>
        <a:lstStyle/>
        <a:p>
          <a:endParaRPr lang="en-US"/>
        </a:p>
      </dgm:t>
    </dgm:pt>
    <dgm:pt modelId="{AA69EAA0-AB2D-4883-A657-32BD0EE8414A}" type="sibTrans" cxnId="{E54B123D-AC39-409D-89CF-F97EB7D95DAE}">
      <dgm:prSet/>
      <dgm:spPr/>
      <dgm:t>
        <a:bodyPr/>
        <a:lstStyle/>
        <a:p>
          <a:endParaRPr lang="en-US"/>
        </a:p>
      </dgm:t>
    </dgm:pt>
    <dgm:pt modelId="{092BACFE-0B78-4D99-9F2D-DFBD22267AAD}">
      <dgm:prSet custT="1"/>
      <dgm:spPr>
        <a:solidFill>
          <a:schemeClr val="accent4"/>
        </a:solidFill>
      </dgm:spPr>
      <dgm:t>
        <a:bodyPr/>
        <a:lstStyle/>
        <a:p>
          <a:r>
            <a:rPr lang="en-US" sz="1000" b="1" i="0" dirty="0">
              <a:solidFill>
                <a:schemeClr val="tx1"/>
              </a:solidFill>
            </a:rPr>
            <a:t>Ownership</a:t>
          </a:r>
          <a:r>
            <a:rPr lang="en-US" sz="600" b="0" i="0" dirty="0"/>
            <a:t> </a:t>
          </a:r>
          <a:endParaRPr lang="en-US" sz="600" dirty="0"/>
        </a:p>
      </dgm:t>
    </dgm:pt>
    <dgm:pt modelId="{5A3D4874-7150-4AD0-A3EC-2062EC797E2D}" type="parTrans" cxnId="{4B979D30-83E1-4522-B287-5A31C6246076}">
      <dgm:prSet/>
      <dgm:spPr/>
      <dgm:t>
        <a:bodyPr/>
        <a:lstStyle/>
        <a:p>
          <a:endParaRPr lang="en-US"/>
        </a:p>
      </dgm:t>
    </dgm:pt>
    <dgm:pt modelId="{846FA6DB-CF74-4C24-AFDF-0024E5CCD2AF}" type="sibTrans" cxnId="{4B979D30-83E1-4522-B287-5A31C6246076}">
      <dgm:prSet/>
      <dgm:spPr/>
      <dgm:t>
        <a:bodyPr/>
        <a:lstStyle/>
        <a:p>
          <a:endParaRPr lang="en-US"/>
        </a:p>
      </dgm:t>
    </dgm:pt>
    <dgm:pt modelId="{DF85AA35-B4BA-47D7-8E67-77E860F5F0F8}" type="pres">
      <dgm:prSet presAssocID="{FADAAB90-34DA-44E4-9C76-E48419DED574}" presName="composite" presStyleCnt="0">
        <dgm:presLayoutVars>
          <dgm:chMax val="3"/>
          <dgm:animLvl val="lvl"/>
          <dgm:resizeHandles val="exact"/>
        </dgm:presLayoutVars>
      </dgm:prSet>
      <dgm:spPr/>
    </dgm:pt>
    <dgm:pt modelId="{F0A30A0B-5BF6-4FB0-8665-9FF0F588FD0A}" type="pres">
      <dgm:prSet presAssocID="{1C1E58A2-142A-4E4C-AA99-C1BBD0ADE2E7}" presName="gear1" presStyleLbl="node1" presStyleIdx="0" presStyleCnt="3">
        <dgm:presLayoutVars>
          <dgm:chMax val="1"/>
          <dgm:bulletEnabled val="1"/>
        </dgm:presLayoutVars>
      </dgm:prSet>
      <dgm:spPr/>
    </dgm:pt>
    <dgm:pt modelId="{D7B2F23B-7A19-40D0-B496-C8BF95C37CC1}" type="pres">
      <dgm:prSet presAssocID="{1C1E58A2-142A-4E4C-AA99-C1BBD0ADE2E7}" presName="gear1srcNode" presStyleLbl="node1" presStyleIdx="0" presStyleCnt="3"/>
      <dgm:spPr/>
    </dgm:pt>
    <dgm:pt modelId="{B302B585-765B-46CB-A730-0126CCA397BD}" type="pres">
      <dgm:prSet presAssocID="{1C1E58A2-142A-4E4C-AA99-C1BBD0ADE2E7}" presName="gear1dstNode" presStyleLbl="node1" presStyleIdx="0" presStyleCnt="3"/>
      <dgm:spPr/>
    </dgm:pt>
    <dgm:pt modelId="{DD90297F-E138-42F7-846D-10A4F643A599}" type="pres">
      <dgm:prSet presAssocID="{3E7E4D70-8238-4A61-A4E1-084A28747960}" presName="gear2" presStyleLbl="node1" presStyleIdx="1" presStyleCnt="3" custLinFactNeighborX="-12110" custLinFactNeighborY="25087">
        <dgm:presLayoutVars>
          <dgm:chMax val="1"/>
          <dgm:bulletEnabled val="1"/>
        </dgm:presLayoutVars>
      </dgm:prSet>
      <dgm:spPr/>
    </dgm:pt>
    <dgm:pt modelId="{C6C527EB-6597-41A7-92BD-9C28032EBF7E}" type="pres">
      <dgm:prSet presAssocID="{3E7E4D70-8238-4A61-A4E1-084A28747960}" presName="gear2srcNode" presStyleLbl="node1" presStyleIdx="1" presStyleCnt="3"/>
      <dgm:spPr/>
    </dgm:pt>
    <dgm:pt modelId="{C410E430-91F7-42F6-A4E6-18A388CA774E}" type="pres">
      <dgm:prSet presAssocID="{3E7E4D70-8238-4A61-A4E1-084A28747960}" presName="gear2dstNode" presStyleLbl="node1" presStyleIdx="1" presStyleCnt="3"/>
      <dgm:spPr/>
    </dgm:pt>
    <dgm:pt modelId="{9747DE2C-7094-4651-8618-407E14F4A67A}" type="pres">
      <dgm:prSet presAssocID="{092BACFE-0B78-4D99-9F2D-DFBD22267AAD}" presName="gear3" presStyleLbl="node1" presStyleIdx="2" presStyleCnt="3"/>
      <dgm:spPr/>
    </dgm:pt>
    <dgm:pt modelId="{F82E7EC9-3113-4814-BC5B-468F879D6E74}" type="pres">
      <dgm:prSet presAssocID="{092BACFE-0B78-4D99-9F2D-DFBD22267AAD}" presName="gear3tx" presStyleLbl="node1" presStyleIdx="2" presStyleCnt="3">
        <dgm:presLayoutVars>
          <dgm:chMax val="1"/>
          <dgm:bulletEnabled val="1"/>
        </dgm:presLayoutVars>
      </dgm:prSet>
      <dgm:spPr/>
    </dgm:pt>
    <dgm:pt modelId="{D17ACFD9-A0C1-497B-ADD3-E6CA854254E7}" type="pres">
      <dgm:prSet presAssocID="{092BACFE-0B78-4D99-9F2D-DFBD22267AAD}" presName="gear3srcNode" presStyleLbl="node1" presStyleIdx="2" presStyleCnt="3"/>
      <dgm:spPr/>
    </dgm:pt>
    <dgm:pt modelId="{E7998470-FE76-4C6D-8A76-3812846F3331}" type="pres">
      <dgm:prSet presAssocID="{092BACFE-0B78-4D99-9F2D-DFBD22267AAD}" presName="gear3dstNode" presStyleLbl="node1" presStyleIdx="2" presStyleCnt="3"/>
      <dgm:spPr/>
    </dgm:pt>
    <dgm:pt modelId="{F0924667-8390-47FA-9892-F75AC0C410D5}" type="pres">
      <dgm:prSet presAssocID="{532B3091-D609-4078-9796-4B117FF611C3}" presName="connector1" presStyleLbl="sibTrans2D1" presStyleIdx="0" presStyleCnt="3" custLinFactNeighborX="-9200" custLinFactNeighborY="-51519"/>
      <dgm:spPr/>
    </dgm:pt>
    <dgm:pt modelId="{F0B5BDE1-AB9A-4AC9-ACB8-F1BB49A57D6A}" type="pres">
      <dgm:prSet presAssocID="{41E13B40-8623-4E7F-BD3A-5E7C08A5C881}" presName="connector2" presStyleLbl="sibTrans2D1" presStyleIdx="1" presStyleCnt="3" custLinFactNeighborX="21779" custLinFactNeighborY="-12662"/>
      <dgm:spPr/>
    </dgm:pt>
    <dgm:pt modelId="{3F96C6B4-3033-4364-B51A-77AA4318AC49}" type="pres">
      <dgm:prSet presAssocID="{846FA6DB-CF74-4C24-AFDF-0024E5CCD2AF}" presName="connector3" presStyleLbl="sibTrans2D1" presStyleIdx="2" presStyleCnt="3" custAng="2139403" custScaleX="93088" custScaleY="94872" custLinFactNeighborX="14563" custLinFactNeighborY="-7045"/>
      <dgm:spPr/>
    </dgm:pt>
  </dgm:ptLst>
  <dgm:cxnLst>
    <dgm:cxn modelId="{00196C10-DDC2-410A-A2DC-299C733322CB}" type="presOf" srcId="{1C1E58A2-142A-4E4C-AA99-C1BBD0ADE2E7}" destId="{B302B585-765B-46CB-A730-0126CCA397BD}" srcOrd="2" destOrd="0" presId="urn:microsoft.com/office/officeart/2005/8/layout/gear1"/>
    <dgm:cxn modelId="{4B979D30-83E1-4522-B287-5A31C6246076}" srcId="{FADAAB90-34DA-44E4-9C76-E48419DED574}" destId="{092BACFE-0B78-4D99-9F2D-DFBD22267AAD}" srcOrd="2" destOrd="0" parTransId="{5A3D4874-7150-4AD0-A3EC-2062EC797E2D}" sibTransId="{846FA6DB-CF74-4C24-AFDF-0024E5CCD2AF}"/>
    <dgm:cxn modelId="{15607D38-4E00-4346-A955-CB28C27E4347}" type="presOf" srcId="{092BACFE-0B78-4D99-9F2D-DFBD22267AAD}" destId="{F82E7EC9-3113-4814-BC5B-468F879D6E74}" srcOrd="1" destOrd="0" presId="urn:microsoft.com/office/officeart/2005/8/layout/gear1"/>
    <dgm:cxn modelId="{E54B123D-AC39-409D-89CF-F97EB7D95DAE}" srcId="{FADAAB90-34DA-44E4-9C76-E48419DED574}" destId="{CBF27AA3-36C1-4356-BE27-4F8C02FB215B}" srcOrd="3" destOrd="0" parTransId="{C8B3820D-3FB1-443D-B81E-FD98937759F6}" sibTransId="{AA69EAA0-AB2D-4883-A657-32BD0EE8414A}"/>
    <dgm:cxn modelId="{CCDAF55C-AA66-4D25-88A3-0C08306018AB}" type="presOf" srcId="{FADAAB90-34DA-44E4-9C76-E48419DED574}" destId="{DF85AA35-B4BA-47D7-8E67-77E860F5F0F8}" srcOrd="0" destOrd="0" presId="urn:microsoft.com/office/officeart/2005/8/layout/gear1"/>
    <dgm:cxn modelId="{E40A8762-D7C8-4522-8AFC-4730A9D93A83}" type="presOf" srcId="{3E7E4D70-8238-4A61-A4E1-084A28747960}" destId="{C6C527EB-6597-41A7-92BD-9C28032EBF7E}" srcOrd="1" destOrd="0" presId="urn:microsoft.com/office/officeart/2005/8/layout/gear1"/>
    <dgm:cxn modelId="{E6970F6B-6A59-41BD-91C7-4F1E43610B2E}" type="presOf" srcId="{092BACFE-0B78-4D99-9F2D-DFBD22267AAD}" destId="{D17ACFD9-A0C1-497B-ADD3-E6CA854254E7}" srcOrd="2" destOrd="0" presId="urn:microsoft.com/office/officeart/2005/8/layout/gear1"/>
    <dgm:cxn modelId="{017F434C-AB2F-4355-B48C-A98B768D45A3}" type="presOf" srcId="{092BACFE-0B78-4D99-9F2D-DFBD22267AAD}" destId="{9747DE2C-7094-4651-8618-407E14F4A67A}" srcOrd="0" destOrd="0" presId="urn:microsoft.com/office/officeart/2005/8/layout/gear1"/>
    <dgm:cxn modelId="{C5D44150-D9CF-4572-8491-E07BC5F9A6FC}" type="presOf" srcId="{1C1E58A2-142A-4E4C-AA99-C1BBD0ADE2E7}" destId="{F0A30A0B-5BF6-4FB0-8665-9FF0F588FD0A}" srcOrd="0" destOrd="0" presId="urn:microsoft.com/office/officeart/2005/8/layout/gear1"/>
    <dgm:cxn modelId="{DB73D276-C626-4192-AE63-24AB9C7A755F}" srcId="{FADAAB90-34DA-44E4-9C76-E48419DED574}" destId="{1C1E58A2-142A-4E4C-AA99-C1BBD0ADE2E7}" srcOrd="0" destOrd="0" parTransId="{6885F8AB-9E7D-4518-A361-E5C25DFF573F}" sibTransId="{532B3091-D609-4078-9796-4B117FF611C3}"/>
    <dgm:cxn modelId="{EB0A875A-662A-487B-ACA0-DE5696A40BD7}" type="presOf" srcId="{3E7E4D70-8238-4A61-A4E1-084A28747960}" destId="{C410E430-91F7-42F6-A4E6-18A388CA774E}" srcOrd="2" destOrd="0" presId="urn:microsoft.com/office/officeart/2005/8/layout/gear1"/>
    <dgm:cxn modelId="{4913DAA0-01C5-419F-84BC-CC2D9BA4C0B2}" type="presOf" srcId="{092BACFE-0B78-4D99-9F2D-DFBD22267AAD}" destId="{E7998470-FE76-4C6D-8A76-3812846F3331}" srcOrd="3" destOrd="0" presId="urn:microsoft.com/office/officeart/2005/8/layout/gear1"/>
    <dgm:cxn modelId="{36DEDFA0-508D-46C1-8DC0-DD5062789213}" type="presOf" srcId="{41E13B40-8623-4E7F-BD3A-5E7C08A5C881}" destId="{F0B5BDE1-AB9A-4AC9-ACB8-F1BB49A57D6A}" srcOrd="0" destOrd="0" presId="urn:microsoft.com/office/officeart/2005/8/layout/gear1"/>
    <dgm:cxn modelId="{5D06ECB6-2E6B-4FB3-B8B0-9044A1062AE6}" type="presOf" srcId="{846FA6DB-CF74-4C24-AFDF-0024E5CCD2AF}" destId="{3F96C6B4-3033-4364-B51A-77AA4318AC49}" srcOrd="0" destOrd="0" presId="urn:microsoft.com/office/officeart/2005/8/layout/gear1"/>
    <dgm:cxn modelId="{92B91CC4-BA60-463B-A55D-CF91C437229E}" type="presOf" srcId="{1C1E58A2-142A-4E4C-AA99-C1BBD0ADE2E7}" destId="{D7B2F23B-7A19-40D0-B496-C8BF95C37CC1}" srcOrd="1" destOrd="0" presId="urn:microsoft.com/office/officeart/2005/8/layout/gear1"/>
    <dgm:cxn modelId="{3EC2D5DE-22DB-4125-A94C-2B56AA2A82EA}" srcId="{FADAAB90-34DA-44E4-9C76-E48419DED574}" destId="{3E7E4D70-8238-4A61-A4E1-084A28747960}" srcOrd="1" destOrd="0" parTransId="{A4AEEFBF-3A7D-460C-BA77-5AF9C9D5986E}" sibTransId="{41E13B40-8623-4E7F-BD3A-5E7C08A5C881}"/>
    <dgm:cxn modelId="{E33F4EE9-D6EF-4FEB-AE45-B3D93B0C73B5}" type="presOf" srcId="{532B3091-D609-4078-9796-4B117FF611C3}" destId="{F0924667-8390-47FA-9892-F75AC0C410D5}" srcOrd="0" destOrd="0" presId="urn:microsoft.com/office/officeart/2005/8/layout/gear1"/>
    <dgm:cxn modelId="{BA8488F5-1CDE-486F-BD7D-76C233415B86}" type="presOf" srcId="{3E7E4D70-8238-4A61-A4E1-084A28747960}" destId="{DD90297F-E138-42F7-846D-10A4F643A599}" srcOrd="0" destOrd="0" presId="urn:microsoft.com/office/officeart/2005/8/layout/gear1"/>
    <dgm:cxn modelId="{80C68012-925C-4FFB-A9C0-03535D7B6D9D}" type="presParOf" srcId="{DF85AA35-B4BA-47D7-8E67-77E860F5F0F8}" destId="{F0A30A0B-5BF6-4FB0-8665-9FF0F588FD0A}" srcOrd="0" destOrd="0" presId="urn:microsoft.com/office/officeart/2005/8/layout/gear1"/>
    <dgm:cxn modelId="{1FBCA413-1E63-49A3-A6BF-D36B7B5EF9A4}" type="presParOf" srcId="{DF85AA35-B4BA-47D7-8E67-77E860F5F0F8}" destId="{D7B2F23B-7A19-40D0-B496-C8BF95C37CC1}" srcOrd="1" destOrd="0" presId="urn:microsoft.com/office/officeart/2005/8/layout/gear1"/>
    <dgm:cxn modelId="{EE7115AC-306B-467D-BAA6-928B31C56BF8}" type="presParOf" srcId="{DF85AA35-B4BA-47D7-8E67-77E860F5F0F8}" destId="{B302B585-765B-46CB-A730-0126CCA397BD}" srcOrd="2" destOrd="0" presId="urn:microsoft.com/office/officeart/2005/8/layout/gear1"/>
    <dgm:cxn modelId="{64675E75-FB8E-4EE0-A7AD-B20588066744}" type="presParOf" srcId="{DF85AA35-B4BA-47D7-8E67-77E860F5F0F8}" destId="{DD90297F-E138-42F7-846D-10A4F643A599}" srcOrd="3" destOrd="0" presId="urn:microsoft.com/office/officeart/2005/8/layout/gear1"/>
    <dgm:cxn modelId="{C5CA40DA-E639-4790-8A4F-9A3164C70892}" type="presParOf" srcId="{DF85AA35-B4BA-47D7-8E67-77E860F5F0F8}" destId="{C6C527EB-6597-41A7-92BD-9C28032EBF7E}" srcOrd="4" destOrd="0" presId="urn:microsoft.com/office/officeart/2005/8/layout/gear1"/>
    <dgm:cxn modelId="{43121252-FBE6-4CB5-A0D2-CD178766CF74}" type="presParOf" srcId="{DF85AA35-B4BA-47D7-8E67-77E860F5F0F8}" destId="{C410E430-91F7-42F6-A4E6-18A388CA774E}" srcOrd="5" destOrd="0" presId="urn:microsoft.com/office/officeart/2005/8/layout/gear1"/>
    <dgm:cxn modelId="{9D793A06-BCEE-40E3-8704-06C452F1C41F}" type="presParOf" srcId="{DF85AA35-B4BA-47D7-8E67-77E860F5F0F8}" destId="{9747DE2C-7094-4651-8618-407E14F4A67A}" srcOrd="6" destOrd="0" presId="urn:microsoft.com/office/officeart/2005/8/layout/gear1"/>
    <dgm:cxn modelId="{8651B706-9861-4FF3-B8E4-4616CE399CFD}" type="presParOf" srcId="{DF85AA35-B4BA-47D7-8E67-77E860F5F0F8}" destId="{F82E7EC9-3113-4814-BC5B-468F879D6E74}" srcOrd="7" destOrd="0" presId="urn:microsoft.com/office/officeart/2005/8/layout/gear1"/>
    <dgm:cxn modelId="{D019FF03-5F0A-4F8A-9F83-6522B5B4CAE3}" type="presParOf" srcId="{DF85AA35-B4BA-47D7-8E67-77E860F5F0F8}" destId="{D17ACFD9-A0C1-497B-ADD3-E6CA854254E7}" srcOrd="8" destOrd="0" presId="urn:microsoft.com/office/officeart/2005/8/layout/gear1"/>
    <dgm:cxn modelId="{FEDC086A-B871-4BD7-96F0-05B5A8A5A644}" type="presParOf" srcId="{DF85AA35-B4BA-47D7-8E67-77E860F5F0F8}" destId="{E7998470-FE76-4C6D-8A76-3812846F3331}" srcOrd="9" destOrd="0" presId="urn:microsoft.com/office/officeart/2005/8/layout/gear1"/>
    <dgm:cxn modelId="{1E10F6C3-3759-49D1-BCCD-FE73B8400FDB}" type="presParOf" srcId="{DF85AA35-B4BA-47D7-8E67-77E860F5F0F8}" destId="{F0924667-8390-47FA-9892-F75AC0C410D5}" srcOrd="10" destOrd="0" presId="urn:microsoft.com/office/officeart/2005/8/layout/gear1"/>
    <dgm:cxn modelId="{641F83CB-678A-4362-BCFD-AF0E99370195}" type="presParOf" srcId="{DF85AA35-B4BA-47D7-8E67-77E860F5F0F8}" destId="{F0B5BDE1-AB9A-4AC9-ACB8-F1BB49A57D6A}" srcOrd="11" destOrd="0" presId="urn:microsoft.com/office/officeart/2005/8/layout/gear1"/>
    <dgm:cxn modelId="{0110E94F-9AC9-477A-A94A-5729602FDADA}" type="presParOf" srcId="{DF85AA35-B4BA-47D7-8E67-77E860F5F0F8}" destId="{3F96C6B4-3033-4364-B51A-77AA4318AC49}" srcOrd="12" destOrd="0" presId="urn:microsoft.com/office/officeart/2005/8/layout/gear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B4CF0E-55DE-4969-A714-4DD7B5FE0E43}"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296097FC-ADF4-4D6D-9857-C00945CA8796}">
      <dgm:prSet phldrT="[Text]"/>
      <dgm:spPr/>
      <dgm:t>
        <a:bodyPr/>
        <a:lstStyle/>
        <a:p>
          <a:pPr>
            <a:lnSpc>
              <a:spcPct val="100000"/>
            </a:lnSpc>
            <a:defRPr b="1"/>
          </a:pPr>
          <a:r>
            <a:rPr lang="en-US" dirty="0"/>
            <a:t>Establish Clear Goals</a:t>
          </a:r>
        </a:p>
      </dgm:t>
    </dgm:pt>
    <dgm:pt modelId="{1F3787F0-6C94-4C5C-89DE-31C1B3F5B1F4}" type="parTrans" cxnId="{7B02C0FA-E5B1-40EB-928E-50A9943DC58C}">
      <dgm:prSet/>
      <dgm:spPr/>
      <dgm:t>
        <a:bodyPr/>
        <a:lstStyle/>
        <a:p>
          <a:endParaRPr lang="en-US"/>
        </a:p>
      </dgm:t>
    </dgm:pt>
    <dgm:pt modelId="{4AF85008-B76B-4409-8BA5-611EB9F0CED9}" type="sibTrans" cxnId="{7B02C0FA-E5B1-40EB-928E-50A9943DC58C}">
      <dgm:prSet/>
      <dgm:spPr/>
      <dgm:t>
        <a:bodyPr/>
        <a:lstStyle/>
        <a:p>
          <a:endParaRPr lang="en-US"/>
        </a:p>
      </dgm:t>
    </dgm:pt>
    <dgm:pt modelId="{306B11FF-ED5A-4577-B975-A3241FC6939A}">
      <dgm:prSet phldrT="[Text]"/>
      <dgm:spPr/>
      <dgm:t>
        <a:bodyPr/>
        <a:lstStyle/>
        <a:p>
          <a:pPr>
            <a:lnSpc>
              <a:spcPct val="100000"/>
            </a:lnSpc>
            <a:buFont typeface="Wingdings" panose="05000000000000000000" pitchFamily="2" charset="2"/>
            <a:buChar char="§"/>
          </a:pPr>
          <a:r>
            <a:rPr lang="en-US" dirty="0"/>
            <a:t>Set roadmap</a:t>
          </a:r>
        </a:p>
        <a:p>
          <a:pPr>
            <a:lnSpc>
              <a:spcPct val="100000"/>
            </a:lnSpc>
            <a:buFont typeface="Wingdings" panose="05000000000000000000" pitchFamily="2" charset="2"/>
            <a:buChar char="§"/>
          </a:pPr>
          <a:r>
            <a:rPr lang="en-US" dirty="0"/>
            <a:t>Provide resources</a:t>
          </a:r>
        </a:p>
        <a:p>
          <a:pPr>
            <a:lnSpc>
              <a:spcPct val="100000"/>
            </a:lnSpc>
            <a:buFont typeface="Wingdings" panose="05000000000000000000" pitchFamily="2" charset="2"/>
            <a:buChar char="§"/>
          </a:pPr>
          <a:r>
            <a:rPr lang="en-US" dirty="0"/>
            <a:t>Clear communication</a:t>
          </a:r>
        </a:p>
        <a:p>
          <a:pPr>
            <a:lnSpc>
              <a:spcPct val="100000"/>
            </a:lnSpc>
            <a:buFont typeface="Wingdings" panose="05000000000000000000" pitchFamily="2" charset="2"/>
            <a:buChar char="§"/>
          </a:pPr>
          <a:r>
            <a:rPr lang="en-US" dirty="0"/>
            <a:t>Trust &amp; Empowerment</a:t>
          </a:r>
        </a:p>
        <a:p>
          <a:pPr>
            <a:lnSpc>
              <a:spcPct val="100000"/>
            </a:lnSpc>
            <a:buFont typeface="Wingdings" panose="05000000000000000000" pitchFamily="2" charset="2"/>
            <a:buChar char="§"/>
          </a:pPr>
          <a:r>
            <a:rPr lang="en-US" dirty="0"/>
            <a:t>Transparency </a:t>
          </a:r>
        </a:p>
      </dgm:t>
    </dgm:pt>
    <dgm:pt modelId="{89D3E528-DEA1-4943-B208-9A7ADA6EF4E1}" type="parTrans" cxnId="{473D7AF9-5BC5-4FB7-B255-A23F7E0FAB94}">
      <dgm:prSet/>
      <dgm:spPr/>
      <dgm:t>
        <a:bodyPr/>
        <a:lstStyle/>
        <a:p>
          <a:endParaRPr lang="en-US"/>
        </a:p>
      </dgm:t>
    </dgm:pt>
    <dgm:pt modelId="{4B6A61C3-54C4-4116-9D9A-685ECF454E51}" type="sibTrans" cxnId="{473D7AF9-5BC5-4FB7-B255-A23F7E0FAB94}">
      <dgm:prSet/>
      <dgm:spPr/>
      <dgm:t>
        <a:bodyPr/>
        <a:lstStyle/>
        <a:p>
          <a:endParaRPr lang="en-US"/>
        </a:p>
      </dgm:t>
    </dgm:pt>
    <dgm:pt modelId="{1FEFED3A-1C4E-4137-AE95-B47893ABFEB0}">
      <dgm:prSet phldrT="[Text]"/>
      <dgm:spPr/>
      <dgm:t>
        <a:bodyPr/>
        <a:lstStyle/>
        <a:p>
          <a:pPr>
            <a:lnSpc>
              <a:spcPct val="100000"/>
            </a:lnSpc>
            <a:defRPr b="1"/>
          </a:pPr>
          <a:r>
            <a:rPr lang="en-US" dirty="0"/>
            <a:t>Regular Check-ins</a:t>
          </a:r>
        </a:p>
      </dgm:t>
    </dgm:pt>
    <dgm:pt modelId="{A49FAE5A-4EAB-4EDB-A1CC-86B56D0CF659}" type="parTrans" cxnId="{AA103C86-D4F9-40D8-BCB5-D70362BA4DF9}">
      <dgm:prSet/>
      <dgm:spPr/>
      <dgm:t>
        <a:bodyPr/>
        <a:lstStyle/>
        <a:p>
          <a:endParaRPr lang="en-US"/>
        </a:p>
      </dgm:t>
    </dgm:pt>
    <dgm:pt modelId="{17E88F81-C3AA-4A3E-980F-34AE0C4E5B0B}" type="sibTrans" cxnId="{AA103C86-D4F9-40D8-BCB5-D70362BA4DF9}">
      <dgm:prSet/>
      <dgm:spPr/>
      <dgm:t>
        <a:bodyPr/>
        <a:lstStyle/>
        <a:p>
          <a:endParaRPr lang="en-US"/>
        </a:p>
      </dgm:t>
    </dgm:pt>
    <dgm:pt modelId="{2F6F1879-96C1-4CFF-864A-FA44899E31AB}">
      <dgm:prSet phldrT="[Text]"/>
      <dgm:spPr/>
      <dgm:t>
        <a:bodyPr/>
        <a:lstStyle/>
        <a:p>
          <a:pPr>
            <a:lnSpc>
              <a:spcPct val="100000"/>
            </a:lnSpc>
          </a:pPr>
          <a:r>
            <a:rPr lang="en-US" dirty="0"/>
            <a:t>Periodic follow ups</a:t>
          </a:r>
        </a:p>
        <a:p>
          <a:pPr>
            <a:lnSpc>
              <a:spcPct val="100000"/>
            </a:lnSpc>
          </a:pPr>
          <a:r>
            <a:rPr lang="en-US" dirty="0"/>
            <a:t>Celebrate milestones</a:t>
          </a:r>
        </a:p>
      </dgm:t>
    </dgm:pt>
    <dgm:pt modelId="{28D27D46-2D66-4A3E-9ABC-684CFA934580}" type="parTrans" cxnId="{55A9F564-1ADB-4723-8EC0-FDD83965D764}">
      <dgm:prSet/>
      <dgm:spPr/>
      <dgm:t>
        <a:bodyPr/>
        <a:lstStyle/>
        <a:p>
          <a:endParaRPr lang="en-US"/>
        </a:p>
      </dgm:t>
    </dgm:pt>
    <dgm:pt modelId="{96B57D1E-FAEF-4E1E-9D6C-E77828576796}" type="sibTrans" cxnId="{55A9F564-1ADB-4723-8EC0-FDD83965D764}">
      <dgm:prSet/>
      <dgm:spPr/>
      <dgm:t>
        <a:bodyPr/>
        <a:lstStyle/>
        <a:p>
          <a:endParaRPr lang="en-US"/>
        </a:p>
      </dgm:t>
    </dgm:pt>
    <dgm:pt modelId="{62F4605E-F177-4DE8-8F83-0AA9400A1D84}">
      <dgm:prSet phldrT="[Text]"/>
      <dgm:spPr/>
      <dgm:t>
        <a:bodyPr/>
        <a:lstStyle/>
        <a:p>
          <a:pPr>
            <a:lnSpc>
              <a:spcPct val="100000"/>
            </a:lnSpc>
            <a:defRPr b="1"/>
          </a:pPr>
          <a:r>
            <a:rPr lang="en-US" b="1" dirty="0" err="1"/>
            <a:t>WorkiQ</a:t>
          </a:r>
          <a:endParaRPr lang="en-US" dirty="0"/>
        </a:p>
      </dgm:t>
    </dgm:pt>
    <dgm:pt modelId="{FAFC1927-F540-4DA0-BB90-1E4A1341C1DE}" type="parTrans" cxnId="{D01BC1E2-1464-4A0F-87ED-A2E056FC5C2E}">
      <dgm:prSet/>
      <dgm:spPr/>
      <dgm:t>
        <a:bodyPr/>
        <a:lstStyle/>
        <a:p>
          <a:endParaRPr lang="en-US"/>
        </a:p>
      </dgm:t>
    </dgm:pt>
    <dgm:pt modelId="{D2F67C4B-89A6-4F1A-9A77-0A0F6DF57D18}" type="sibTrans" cxnId="{D01BC1E2-1464-4A0F-87ED-A2E056FC5C2E}">
      <dgm:prSet/>
      <dgm:spPr/>
      <dgm:t>
        <a:bodyPr/>
        <a:lstStyle/>
        <a:p>
          <a:endParaRPr lang="en-US"/>
        </a:p>
      </dgm:t>
    </dgm:pt>
    <dgm:pt modelId="{650EE5C0-51A3-49C4-AB5E-18DB3EB5EB00}">
      <dgm:prSet phldrT="[Text]"/>
      <dgm:spPr/>
      <dgm:t>
        <a:bodyPr/>
        <a:lstStyle/>
        <a:p>
          <a:pPr>
            <a:lnSpc>
              <a:spcPct val="100000"/>
            </a:lnSpc>
          </a:pPr>
          <a:r>
            <a:rPr lang="en-US" b="0" dirty="0">
              <a:effectLst/>
              <a:latin typeface="+mn-lt"/>
              <a:ea typeface="Times New Roman" panose="02020603050405020304" pitchFamily="18" charset="0"/>
              <a:cs typeface="Aptos" panose="020B0004020202020204" pitchFamily="34" charset="0"/>
            </a:rPr>
            <a:t>Tracks time spent in work and non-work applications</a:t>
          </a:r>
          <a:endParaRPr lang="en-US" b="0" dirty="0">
            <a:latin typeface="+mn-lt"/>
          </a:endParaRPr>
        </a:p>
      </dgm:t>
    </dgm:pt>
    <dgm:pt modelId="{E52A4A90-837D-403A-B323-022000C9ED12}" type="parTrans" cxnId="{323A5B5E-E463-4A1A-BE2C-A76542897D0D}">
      <dgm:prSet/>
      <dgm:spPr/>
      <dgm:t>
        <a:bodyPr/>
        <a:lstStyle/>
        <a:p>
          <a:endParaRPr lang="en-US"/>
        </a:p>
      </dgm:t>
    </dgm:pt>
    <dgm:pt modelId="{136BC6E5-A2F6-4FC5-992F-E9403E5A4448}" type="sibTrans" cxnId="{323A5B5E-E463-4A1A-BE2C-A76542897D0D}">
      <dgm:prSet/>
      <dgm:spPr/>
      <dgm:t>
        <a:bodyPr/>
        <a:lstStyle/>
        <a:p>
          <a:endParaRPr lang="en-US"/>
        </a:p>
      </dgm:t>
    </dgm:pt>
    <dgm:pt modelId="{7D649052-5526-490C-BE55-6239A1B43F63}">
      <dgm:prSet phldrT="[Text]"/>
      <dgm:spPr/>
      <dgm:t>
        <a:bodyPr/>
        <a:lstStyle/>
        <a:p>
          <a:pPr>
            <a:lnSpc>
              <a:spcPct val="100000"/>
            </a:lnSpc>
          </a:pPr>
          <a:r>
            <a:rPr lang="en-US" dirty="0"/>
            <a:t>Address challenges</a:t>
          </a:r>
        </a:p>
      </dgm:t>
    </dgm:pt>
    <dgm:pt modelId="{5F3063B4-30FA-4B0B-AA11-00A9CD58DB28}" type="parTrans" cxnId="{BF6CB615-A323-432E-8716-ACA4A66429B8}">
      <dgm:prSet/>
      <dgm:spPr/>
      <dgm:t>
        <a:bodyPr/>
        <a:lstStyle/>
        <a:p>
          <a:endParaRPr lang="en-US"/>
        </a:p>
      </dgm:t>
    </dgm:pt>
    <dgm:pt modelId="{9101D8AD-0214-4964-BB6A-28B2559EE483}" type="sibTrans" cxnId="{BF6CB615-A323-432E-8716-ACA4A66429B8}">
      <dgm:prSet/>
      <dgm:spPr/>
      <dgm:t>
        <a:bodyPr/>
        <a:lstStyle/>
        <a:p>
          <a:endParaRPr lang="en-US"/>
        </a:p>
      </dgm:t>
    </dgm:pt>
    <dgm:pt modelId="{C18E161D-C72F-4EEF-9D1E-186E64C0A850}">
      <dgm:prSet phldrT="[Text]"/>
      <dgm:spPr/>
      <dgm:t>
        <a:bodyPr/>
        <a:lstStyle/>
        <a:p>
          <a:pPr>
            <a:lnSpc>
              <a:spcPct val="100000"/>
            </a:lnSpc>
          </a:pPr>
          <a:r>
            <a:rPr lang="en-US" dirty="0"/>
            <a:t>Building relationships</a:t>
          </a:r>
        </a:p>
        <a:p>
          <a:pPr>
            <a:lnSpc>
              <a:spcPct val="100000"/>
            </a:lnSpc>
          </a:pPr>
          <a:r>
            <a:rPr lang="en-US" dirty="0"/>
            <a:t>Be adaptive and flexible</a:t>
          </a:r>
        </a:p>
      </dgm:t>
    </dgm:pt>
    <dgm:pt modelId="{EB98AE64-EA6A-4806-932F-377285073DC5}" type="parTrans" cxnId="{868E6344-48D9-4CD7-B428-EEBC0961D873}">
      <dgm:prSet/>
      <dgm:spPr/>
      <dgm:t>
        <a:bodyPr/>
        <a:lstStyle/>
        <a:p>
          <a:endParaRPr lang="en-US"/>
        </a:p>
      </dgm:t>
    </dgm:pt>
    <dgm:pt modelId="{C1A1D296-3E98-4F28-9D02-48B62D4E712A}" type="sibTrans" cxnId="{868E6344-48D9-4CD7-B428-EEBC0961D873}">
      <dgm:prSet/>
      <dgm:spPr/>
      <dgm:t>
        <a:bodyPr/>
        <a:lstStyle/>
        <a:p>
          <a:endParaRPr lang="en-US"/>
        </a:p>
      </dgm:t>
    </dgm:pt>
    <dgm:pt modelId="{D9D44004-8FFD-4635-BBA3-A0C95D40D030}">
      <dgm:prSet/>
      <dgm:spPr/>
      <dgm:t>
        <a:bodyPr/>
        <a:lstStyle/>
        <a:p>
          <a:pPr>
            <a:lnSpc>
              <a:spcPct val="100000"/>
            </a:lnSpc>
          </a:pPr>
          <a:r>
            <a:rPr lang="en-US" b="0" dirty="0">
              <a:effectLst/>
              <a:latin typeface="+mn-lt"/>
              <a:ea typeface="Times New Roman" panose="02020603050405020304" pitchFamily="18" charset="0"/>
              <a:cs typeface="Aptos" panose="020B0004020202020204" pitchFamily="34" charset="0"/>
            </a:rPr>
            <a:t>Measures idle time (e.g., breaks, lunch)</a:t>
          </a:r>
          <a:endParaRPr lang="en-US" b="0" dirty="0">
            <a:effectLst/>
            <a:latin typeface="+mn-lt"/>
            <a:ea typeface="Aptos" panose="020B0004020202020204" pitchFamily="34" charset="0"/>
            <a:cs typeface="Aptos" panose="020B0004020202020204" pitchFamily="34" charset="0"/>
          </a:endParaRPr>
        </a:p>
      </dgm:t>
    </dgm:pt>
    <dgm:pt modelId="{48C40739-AC5C-4517-9660-ECBC93ED2EA9}" type="parTrans" cxnId="{46D2174F-4542-44A6-9168-7AE74F251874}">
      <dgm:prSet/>
      <dgm:spPr/>
      <dgm:t>
        <a:bodyPr/>
        <a:lstStyle/>
        <a:p>
          <a:endParaRPr lang="en-US"/>
        </a:p>
      </dgm:t>
    </dgm:pt>
    <dgm:pt modelId="{F0C4B287-D530-4BE1-A94D-D58F011198C0}" type="sibTrans" cxnId="{46D2174F-4542-44A6-9168-7AE74F251874}">
      <dgm:prSet/>
      <dgm:spPr/>
      <dgm:t>
        <a:bodyPr/>
        <a:lstStyle/>
        <a:p>
          <a:endParaRPr lang="en-US"/>
        </a:p>
      </dgm:t>
    </dgm:pt>
    <dgm:pt modelId="{9D51B2A4-AB9C-460C-82D0-CE875D6803DC}">
      <dgm:prSet/>
      <dgm:spPr/>
      <dgm:t>
        <a:bodyPr/>
        <a:lstStyle/>
        <a:p>
          <a:pPr>
            <a:lnSpc>
              <a:spcPct val="100000"/>
            </a:lnSpc>
          </a:pPr>
          <a:r>
            <a:rPr lang="en-US" b="0" dirty="0">
              <a:effectLst/>
              <a:latin typeface="+mn-lt"/>
              <a:ea typeface="Times New Roman" panose="02020603050405020304" pitchFamily="18" charset="0"/>
              <a:cs typeface="Aptos" panose="020B0004020202020204" pitchFamily="34" charset="0"/>
            </a:rPr>
            <a:t>Shows overall activity patterns</a:t>
          </a:r>
          <a:endParaRPr lang="en-US" b="0" dirty="0">
            <a:effectLst/>
            <a:latin typeface="+mn-lt"/>
            <a:ea typeface="Aptos" panose="020B0004020202020204" pitchFamily="34" charset="0"/>
            <a:cs typeface="Aptos" panose="020B0004020202020204" pitchFamily="34" charset="0"/>
          </a:endParaRPr>
        </a:p>
      </dgm:t>
    </dgm:pt>
    <dgm:pt modelId="{302FE382-5C53-40F4-8E4A-2D984FF377D0}" type="parTrans" cxnId="{9DC71391-638F-43E8-9048-47FD0C81742C}">
      <dgm:prSet/>
      <dgm:spPr/>
      <dgm:t>
        <a:bodyPr/>
        <a:lstStyle/>
        <a:p>
          <a:endParaRPr lang="en-US"/>
        </a:p>
      </dgm:t>
    </dgm:pt>
    <dgm:pt modelId="{CB67653A-2768-4EA6-A137-70AC62A79C89}" type="sibTrans" cxnId="{9DC71391-638F-43E8-9048-47FD0C81742C}">
      <dgm:prSet/>
      <dgm:spPr/>
      <dgm:t>
        <a:bodyPr/>
        <a:lstStyle/>
        <a:p>
          <a:endParaRPr lang="en-US"/>
        </a:p>
      </dgm:t>
    </dgm:pt>
    <dgm:pt modelId="{8B6577F0-92AB-4FB2-8BAA-EFBE262C09FC}" type="pres">
      <dgm:prSet presAssocID="{06B4CF0E-55DE-4969-A714-4DD7B5FE0E43}" presName="root" presStyleCnt="0">
        <dgm:presLayoutVars>
          <dgm:dir/>
          <dgm:resizeHandles val="exact"/>
        </dgm:presLayoutVars>
      </dgm:prSet>
      <dgm:spPr/>
    </dgm:pt>
    <dgm:pt modelId="{2DEFC85F-B818-4924-BA37-83F797EF729C}" type="pres">
      <dgm:prSet presAssocID="{296097FC-ADF4-4D6D-9857-C00945CA8796}" presName="compNode" presStyleCnt="0"/>
      <dgm:spPr/>
    </dgm:pt>
    <dgm:pt modelId="{E67D33EF-63EB-4E89-9DC8-77B5CADB58A2}" type="pres">
      <dgm:prSet presAssocID="{296097FC-ADF4-4D6D-9857-C00945CA879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4943348D-D9A6-46E9-AC5A-59D1A3CBEE74}" type="pres">
      <dgm:prSet presAssocID="{296097FC-ADF4-4D6D-9857-C00945CA8796}" presName="iconSpace" presStyleCnt="0"/>
      <dgm:spPr/>
    </dgm:pt>
    <dgm:pt modelId="{BE20EDFD-670F-4A2B-A89E-B64CE95689D1}" type="pres">
      <dgm:prSet presAssocID="{296097FC-ADF4-4D6D-9857-C00945CA8796}" presName="parTx" presStyleLbl="revTx" presStyleIdx="0" presStyleCnt="6">
        <dgm:presLayoutVars>
          <dgm:chMax val="0"/>
          <dgm:chPref val="0"/>
        </dgm:presLayoutVars>
      </dgm:prSet>
      <dgm:spPr/>
    </dgm:pt>
    <dgm:pt modelId="{9160E239-E880-48CC-9BE7-C59DBD5169B0}" type="pres">
      <dgm:prSet presAssocID="{296097FC-ADF4-4D6D-9857-C00945CA8796}" presName="txSpace" presStyleCnt="0"/>
      <dgm:spPr/>
    </dgm:pt>
    <dgm:pt modelId="{DFBC49B0-3986-4256-B6C1-A7E9C3001B90}" type="pres">
      <dgm:prSet presAssocID="{296097FC-ADF4-4D6D-9857-C00945CA8796}" presName="desTx" presStyleLbl="revTx" presStyleIdx="1" presStyleCnt="6">
        <dgm:presLayoutVars/>
      </dgm:prSet>
      <dgm:spPr/>
    </dgm:pt>
    <dgm:pt modelId="{4309E6E8-40D2-4D73-90E3-109BEA5DD7E4}" type="pres">
      <dgm:prSet presAssocID="{4AF85008-B76B-4409-8BA5-611EB9F0CED9}" presName="sibTrans" presStyleCnt="0"/>
      <dgm:spPr/>
    </dgm:pt>
    <dgm:pt modelId="{3BE586C8-433C-4030-85E1-FEB52E901A85}" type="pres">
      <dgm:prSet presAssocID="{1FEFED3A-1C4E-4137-AE95-B47893ABFEB0}" presName="compNode" presStyleCnt="0"/>
      <dgm:spPr/>
    </dgm:pt>
    <dgm:pt modelId="{F48C6E96-39BA-45C9-BA48-EF9B6CD0BC48}" type="pres">
      <dgm:prSet presAssocID="{1FEFED3A-1C4E-4137-AE95-B47893ABFEB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2BAE1723-850B-412D-9FD7-A38B24DB180E}" type="pres">
      <dgm:prSet presAssocID="{1FEFED3A-1C4E-4137-AE95-B47893ABFEB0}" presName="iconSpace" presStyleCnt="0"/>
      <dgm:spPr/>
    </dgm:pt>
    <dgm:pt modelId="{F5A0ABB0-6BB0-47C3-8277-BB16B5F36956}" type="pres">
      <dgm:prSet presAssocID="{1FEFED3A-1C4E-4137-AE95-B47893ABFEB0}" presName="parTx" presStyleLbl="revTx" presStyleIdx="2" presStyleCnt="6">
        <dgm:presLayoutVars>
          <dgm:chMax val="0"/>
          <dgm:chPref val="0"/>
        </dgm:presLayoutVars>
      </dgm:prSet>
      <dgm:spPr/>
    </dgm:pt>
    <dgm:pt modelId="{1F013746-41E9-420D-A705-A09ED5BB6E32}" type="pres">
      <dgm:prSet presAssocID="{1FEFED3A-1C4E-4137-AE95-B47893ABFEB0}" presName="txSpace" presStyleCnt="0"/>
      <dgm:spPr/>
    </dgm:pt>
    <dgm:pt modelId="{A5702B7F-B952-4190-A987-D017922473B8}" type="pres">
      <dgm:prSet presAssocID="{1FEFED3A-1C4E-4137-AE95-B47893ABFEB0}" presName="desTx" presStyleLbl="revTx" presStyleIdx="3" presStyleCnt="6">
        <dgm:presLayoutVars/>
      </dgm:prSet>
      <dgm:spPr/>
    </dgm:pt>
    <dgm:pt modelId="{EBA8F60B-C163-4987-8014-FBE491A9CAAD}" type="pres">
      <dgm:prSet presAssocID="{17E88F81-C3AA-4A3E-980F-34AE0C4E5B0B}" presName="sibTrans" presStyleCnt="0"/>
      <dgm:spPr/>
    </dgm:pt>
    <dgm:pt modelId="{8F006B59-AADC-4B6A-AD40-497251311301}" type="pres">
      <dgm:prSet presAssocID="{62F4605E-F177-4DE8-8F83-0AA9400A1D84}" presName="compNode" presStyleCnt="0"/>
      <dgm:spPr/>
    </dgm:pt>
    <dgm:pt modelId="{F793DA9C-847A-4EF0-BDA8-0EBCF60667BB}" type="pres">
      <dgm:prSet presAssocID="{62F4605E-F177-4DE8-8F83-0AA9400A1D8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orkflow"/>
        </a:ext>
      </dgm:extLst>
    </dgm:pt>
    <dgm:pt modelId="{898AEE1D-72F0-4317-9B00-CB82AFB55815}" type="pres">
      <dgm:prSet presAssocID="{62F4605E-F177-4DE8-8F83-0AA9400A1D84}" presName="iconSpace" presStyleCnt="0"/>
      <dgm:spPr/>
    </dgm:pt>
    <dgm:pt modelId="{625A9F83-3918-4EEC-A028-153BE0425992}" type="pres">
      <dgm:prSet presAssocID="{62F4605E-F177-4DE8-8F83-0AA9400A1D84}" presName="parTx" presStyleLbl="revTx" presStyleIdx="4" presStyleCnt="6" custLinFactNeighborX="-1752" custLinFactNeighborY="-28021">
        <dgm:presLayoutVars>
          <dgm:chMax val="0"/>
          <dgm:chPref val="0"/>
        </dgm:presLayoutVars>
      </dgm:prSet>
      <dgm:spPr/>
    </dgm:pt>
    <dgm:pt modelId="{402B6043-815A-4BF1-AFD5-B5093BDC9E98}" type="pres">
      <dgm:prSet presAssocID="{62F4605E-F177-4DE8-8F83-0AA9400A1D84}" presName="txSpace" presStyleCnt="0"/>
      <dgm:spPr/>
    </dgm:pt>
    <dgm:pt modelId="{E7B417C2-9D27-4DB2-BF90-E63885E2DBF6}" type="pres">
      <dgm:prSet presAssocID="{62F4605E-F177-4DE8-8F83-0AA9400A1D84}" presName="desTx" presStyleLbl="revTx" presStyleIdx="5" presStyleCnt="6" custLinFactNeighborX="-2802" custLinFactNeighborY="-11206">
        <dgm:presLayoutVars/>
      </dgm:prSet>
      <dgm:spPr/>
    </dgm:pt>
  </dgm:ptLst>
  <dgm:cxnLst>
    <dgm:cxn modelId="{BF6CB615-A323-432E-8716-ACA4A66429B8}" srcId="{1FEFED3A-1C4E-4137-AE95-B47893ABFEB0}" destId="{7D649052-5526-490C-BE55-6239A1B43F63}" srcOrd="1" destOrd="0" parTransId="{5F3063B4-30FA-4B0B-AA11-00A9CD58DB28}" sibTransId="{9101D8AD-0214-4964-BB6A-28B2559EE483}"/>
    <dgm:cxn modelId="{8C63F830-3979-4FD7-9432-893C2C1F34E4}" type="presOf" srcId="{62F4605E-F177-4DE8-8F83-0AA9400A1D84}" destId="{625A9F83-3918-4EEC-A028-153BE0425992}" srcOrd="0" destOrd="0" presId="urn:microsoft.com/office/officeart/2018/5/layout/CenteredIconLabelDescriptionList"/>
    <dgm:cxn modelId="{94EAD240-B0F8-4210-A54E-1F28DDE15414}" type="presOf" srcId="{9D51B2A4-AB9C-460C-82D0-CE875D6803DC}" destId="{E7B417C2-9D27-4DB2-BF90-E63885E2DBF6}" srcOrd="0" destOrd="2" presId="urn:microsoft.com/office/officeart/2018/5/layout/CenteredIconLabelDescriptionList"/>
    <dgm:cxn modelId="{323A5B5E-E463-4A1A-BE2C-A76542897D0D}" srcId="{62F4605E-F177-4DE8-8F83-0AA9400A1D84}" destId="{650EE5C0-51A3-49C4-AB5E-18DB3EB5EB00}" srcOrd="0" destOrd="0" parTransId="{E52A4A90-837D-403A-B323-022000C9ED12}" sibTransId="{136BC6E5-A2F6-4FC5-992F-E9403E5A4448}"/>
    <dgm:cxn modelId="{868E6344-48D9-4CD7-B428-EEBC0961D873}" srcId="{1FEFED3A-1C4E-4137-AE95-B47893ABFEB0}" destId="{C18E161D-C72F-4EEF-9D1E-186E64C0A850}" srcOrd="2" destOrd="0" parTransId="{EB98AE64-EA6A-4806-932F-377285073DC5}" sibTransId="{C1A1D296-3E98-4F28-9D02-48B62D4E712A}"/>
    <dgm:cxn modelId="{55A9F564-1ADB-4723-8EC0-FDD83965D764}" srcId="{1FEFED3A-1C4E-4137-AE95-B47893ABFEB0}" destId="{2F6F1879-96C1-4CFF-864A-FA44899E31AB}" srcOrd="0" destOrd="0" parTransId="{28D27D46-2D66-4A3E-9ABC-684CFA934580}" sibTransId="{96B57D1E-FAEF-4E1E-9D6C-E77828576796}"/>
    <dgm:cxn modelId="{46D2174F-4542-44A6-9168-7AE74F251874}" srcId="{62F4605E-F177-4DE8-8F83-0AA9400A1D84}" destId="{D9D44004-8FFD-4635-BBA3-A0C95D40D030}" srcOrd="1" destOrd="0" parTransId="{48C40739-AC5C-4517-9660-ECBC93ED2EA9}" sibTransId="{F0C4B287-D530-4BE1-A94D-D58F011198C0}"/>
    <dgm:cxn modelId="{00BE3670-9AD2-4032-8B84-82A0938F90EB}" type="presOf" srcId="{296097FC-ADF4-4D6D-9857-C00945CA8796}" destId="{BE20EDFD-670F-4A2B-A89E-B64CE95689D1}" srcOrd="0" destOrd="0" presId="urn:microsoft.com/office/officeart/2018/5/layout/CenteredIconLabelDescriptionList"/>
    <dgm:cxn modelId="{5D10D373-64D2-430E-A6D5-21DBA9732E63}" type="presOf" srcId="{1FEFED3A-1C4E-4137-AE95-B47893ABFEB0}" destId="{F5A0ABB0-6BB0-47C3-8277-BB16B5F36956}" srcOrd="0" destOrd="0" presId="urn:microsoft.com/office/officeart/2018/5/layout/CenteredIconLabelDescriptionList"/>
    <dgm:cxn modelId="{AA103C86-D4F9-40D8-BCB5-D70362BA4DF9}" srcId="{06B4CF0E-55DE-4969-A714-4DD7B5FE0E43}" destId="{1FEFED3A-1C4E-4137-AE95-B47893ABFEB0}" srcOrd="1" destOrd="0" parTransId="{A49FAE5A-4EAB-4EDB-A1CC-86B56D0CF659}" sibTransId="{17E88F81-C3AA-4A3E-980F-34AE0C4E5B0B}"/>
    <dgm:cxn modelId="{9DC71391-638F-43E8-9048-47FD0C81742C}" srcId="{62F4605E-F177-4DE8-8F83-0AA9400A1D84}" destId="{9D51B2A4-AB9C-460C-82D0-CE875D6803DC}" srcOrd="2" destOrd="0" parTransId="{302FE382-5C53-40F4-8E4A-2D984FF377D0}" sibTransId="{CB67653A-2768-4EA6-A137-70AC62A79C89}"/>
    <dgm:cxn modelId="{11706996-AA8B-4F7E-B78D-719BE80C803A}" type="presOf" srcId="{06B4CF0E-55DE-4969-A714-4DD7B5FE0E43}" destId="{8B6577F0-92AB-4FB2-8BAA-EFBE262C09FC}" srcOrd="0" destOrd="0" presId="urn:microsoft.com/office/officeart/2018/5/layout/CenteredIconLabelDescriptionList"/>
    <dgm:cxn modelId="{C1C15197-D361-408A-9E6B-11EF4B9E0738}" type="presOf" srcId="{650EE5C0-51A3-49C4-AB5E-18DB3EB5EB00}" destId="{E7B417C2-9D27-4DB2-BF90-E63885E2DBF6}" srcOrd="0" destOrd="0" presId="urn:microsoft.com/office/officeart/2018/5/layout/CenteredIconLabelDescriptionList"/>
    <dgm:cxn modelId="{23A0FD9C-A6CD-49DC-98E9-18B3436FA54E}" type="presOf" srcId="{C18E161D-C72F-4EEF-9D1E-186E64C0A850}" destId="{A5702B7F-B952-4190-A987-D017922473B8}" srcOrd="0" destOrd="2" presId="urn:microsoft.com/office/officeart/2018/5/layout/CenteredIconLabelDescriptionList"/>
    <dgm:cxn modelId="{84FD04C4-1CBE-4E42-8A97-9AA2BA13607F}" type="presOf" srcId="{D9D44004-8FFD-4635-BBA3-A0C95D40D030}" destId="{E7B417C2-9D27-4DB2-BF90-E63885E2DBF6}" srcOrd="0" destOrd="1" presId="urn:microsoft.com/office/officeart/2018/5/layout/CenteredIconLabelDescriptionList"/>
    <dgm:cxn modelId="{BE44ECCA-6B99-4BEB-80C5-561FD397D6E1}" type="presOf" srcId="{7D649052-5526-490C-BE55-6239A1B43F63}" destId="{A5702B7F-B952-4190-A987-D017922473B8}" srcOrd="0" destOrd="1" presId="urn:microsoft.com/office/officeart/2018/5/layout/CenteredIconLabelDescriptionList"/>
    <dgm:cxn modelId="{46A16DE2-6854-4D2A-96D8-EE0D45F2659B}" type="presOf" srcId="{306B11FF-ED5A-4577-B975-A3241FC6939A}" destId="{DFBC49B0-3986-4256-B6C1-A7E9C3001B90}" srcOrd="0" destOrd="0" presId="urn:microsoft.com/office/officeart/2018/5/layout/CenteredIconLabelDescriptionList"/>
    <dgm:cxn modelId="{D01BC1E2-1464-4A0F-87ED-A2E056FC5C2E}" srcId="{06B4CF0E-55DE-4969-A714-4DD7B5FE0E43}" destId="{62F4605E-F177-4DE8-8F83-0AA9400A1D84}" srcOrd="2" destOrd="0" parTransId="{FAFC1927-F540-4DA0-BB90-1E4A1341C1DE}" sibTransId="{D2F67C4B-89A6-4F1A-9A77-0A0F6DF57D18}"/>
    <dgm:cxn modelId="{A46D84EA-617D-470B-A2DB-B30B4B145419}" type="presOf" srcId="{2F6F1879-96C1-4CFF-864A-FA44899E31AB}" destId="{A5702B7F-B952-4190-A987-D017922473B8}" srcOrd="0" destOrd="0" presId="urn:microsoft.com/office/officeart/2018/5/layout/CenteredIconLabelDescriptionList"/>
    <dgm:cxn modelId="{473D7AF9-5BC5-4FB7-B255-A23F7E0FAB94}" srcId="{296097FC-ADF4-4D6D-9857-C00945CA8796}" destId="{306B11FF-ED5A-4577-B975-A3241FC6939A}" srcOrd="0" destOrd="0" parTransId="{89D3E528-DEA1-4943-B208-9A7ADA6EF4E1}" sibTransId="{4B6A61C3-54C4-4116-9D9A-685ECF454E51}"/>
    <dgm:cxn modelId="{7B02C0FA-E5B1-40EB-928E-50A9943DC58C}" srcId="{06B4CF0E-55DE-4969-A714-4DD7B5FE0E43}" destId="{296097FC-ADF4-4D6D-9857-C00945CA8796}" srcOrd="0" destOrd="0" parTransId="{1F3787F0-6C94-4C5C-89DE-31C1B3F5B1F4}" sibTransId="{4AF85008-B76B-4409-8BA5-611EB9F0CED9}"/>
    <dgm:cxn modelId="{8C33C383-620C-43F9-AD71-7A7AEB40CDAD}" type="presParOf" srcId="{8B6577F0-92AB-4FB2-8BAA-EFBE262C09FC}" destId="{2DEFC85F-B818-4924-BA37-83F797EF729C}" srcOrd="0" destOrd="0" presId="urn:microsoft.com/office/officeart/2018/5/layout/CenteredIconLabelDescriptionList"/>
    <dgm:cxn modelId="{0E224A3A-4C88-4950-9481-EA98A40EDEBA}" type="presParOf" srcId="{2DEFC85F-B818-4924-BA37-83F797EF729C}" destId="{E67D33EF-63EB-4E89-9DC8-77B5CADB58A2}" srcOrd="0" destOrd="0" presId="urn:microsoft.com/office/officeart/2018/5/layout/CenteredIconLabelDescriptionList"/>
    <dgm:cxn modelId="{D2DFEBD4-82D2-4C9D-B7DB-807D0C56FC33}" type="presParOf" srcId="{2DEFC85F-B818-4924-BA37-83F797EF729C}" destId="{4943348D-D9A6-46E9-AC5A-59D1A3CBEE74}" srcOrd="1" destOrd="0" presId="urn:microsoft.com/office/officeart/2018/5/layout/CenteredIconLabelDescriptionList"/>
    <dgm:cxn modelId="{303B7BEF-E86A-47AB-8FEE-9AA9A5C6BBE2}" type="presParOf" srcId="{2DEFC85F-B818-4924-BA37-83F797EF729C}" destId="{BE20EDFD-670F-4A2B-A89E-B64CE95689D1}" srcOrd="2" destOrd="0" presId="urn:microsoft.com/office/officeart/2018/5/layout/CenteredIconLabelDescriptionList"/>
    <dgm:cxn modelId="{F82F59E9-BEC9-421C-B0D2-2C154179B778}" type="presParOf" srcId="{2DEFC85F-B818-4924-BA37-83F797EF729C}" destId="{9160E239-E880-48CC-9BE7-C59DBD5169B0}" srcOrd="3" destOrd="0" presId="urn:microsoft.com/office/officeart/2018/5/layout/CenteredIconLabelDescriptionList"/>
    <dgm:cxn modelId="{3E485CB9-0558-40C5-B548-2B444CED442B}" type="presParOf" srcId="{2DEFC85F-B818-4924-BA37-83F797EF729C}" destId="{DFBC49B0-3986-4256-B6C1-A7E9C3001B90}" srcOrd="4" destOrd="0" presId="urn:microsoft.com/office/officeart/2018/5/layout/CenteredIconLabelDescriptionList"/>
    <dgm:cxn modelId="{027ED384-546B-4607-9BD1-16524F88244B}" type="presParOf" srcId="{8B6577F0-92AB-4FB2-8BAA-EFBE262C09FC}" destId="{4309E6E8-40D2-4D73-90E3-109BEA5DD7E4}" srcOrd="1" destOrd="0" presId="urn:microsoft.com/office/officeart/2018/5/layout/CenteredIconLabelDescriptionList"/>
    <dgm:cxn modelId="{284987A7-3C10-4DF2-869E-BF63387AB762}" type="presParOf" srcId="{8B6577F0-92AB-4FB2-8BAA-EFBE262C09FC}" destId="{3BE586C8-433C-4030-85E1-FEB52E901A85}" srcOrd="2" destOrd="0" presId="urn:microsoft.com/office/officeart/2018/5/layout/CenteredIconLabelDescriptionList"/>
    <dgm:cxn modelId="{4E587125-59D0-432B-90B0-BC04549081BE}" type="presParOf" srcId="{3BE586C8-433C-4030-85E1-FEB52E901A85}" destId="{F48C6E96-39BA-45C9-BA48-EF9B6CD0BC48}" srcOrd="0" destOrd="0" presId="urn:microsoft.com/office/officeart/2018/5/layout/CenteredIconLabelDescriptionList"/>
    <dgm:cxn modelId="{37BE4363-E8AA-4863-BC78-90082625590F}" type="presParOf" srcId="{3BE586C8-433C-4030-85E1-FEB52E901A85}" destId="{2BAE1723-850B-412D-9FD7-A38B24DB180E}" srcOrd="1" destOrd="0" presId="urn:microsoft.com/office/officeart/2018/5/layout/CenteredIconLabelDescriptionList"/>
    <dgm:cxn modelId="{E48F3327-D413-4895-B7B0-2DF89E370932}" type="presParOf" srcId="{3BE586C8-433C-4030-85E1-FEB52E901A85}" destId="{F5A0ABB0-6BB0-47C3-8277-BB16B5F36956}" srcOrd="2" destOrd="0" presId="urn:microsoft.com/office/officeart/2018/5/layout/CenteredIconLabelDescriptionList"/>
    <dgm:cxn modelId="{46D5E4CE-ABCC-4533-B31C-7B2243285B29}" type="presParOf" srcId="{3BE586C8-433C-4030-85E1-FEB52E901A85}" destId="{1F013746-41E9-420D-A705-A09ED5BB6E32}" srcOrd="3" destOrd="0" presId="urn:microsoft.com/office/officeart/2018/5/layout/CenteredIconLabelDescriptionList"/>
    <dgm:cxn modelId="{48FF6294-6799-4D33-A0D4-93A78276B255}" type="presParOf" srcId="{3BE586C8-433C-4030-85E1-FEB52E901A85}" destId="{A5702B7F-B952-4190-A987-D017922473B8}" srcOrd="4" destOrd="0" presId="urn:microsoft.com/office/officeart/2018/5/layout/CenteredIconLabelDescriptionList"/>
    <dgm:cxn modelId="{4E39A34C-CCC6-40AC-960C-B4A2AFC69DEF}" type="presParOf" srcId="{8B6577F0-92AB-4FB2-8BAA-EFBE262C09FC}" destId="{EBA8F60B-C163-4987-8014-FBE491A9CAAD}" srcOrd="3" destOrd="0" presId="urn:microsoft.com/office/officeart/2018/5/layout/CenteredIconLabelDescriptionList"/>
    <dgm:cxn modelId="{18F8E002-E5C6-4668-BCA0-41A481967951}" type="presParOf" srcId="{8B6577F0-92AB-4FB2-8BAA-EFBE262C09FC}" destId="{8F006B59-AADC-4B6A-AD40-497251311301}" srcOrd="4" destOrd="0" presId="urn:microsoft.com/office/officeart/2018/5/layout/CenteredIconLabelDescriptionList"/>
    <dgm:cxn modelId="{7A52C009-29AB-455F-9C73-EFE2E1C5A728}" type="presParOf" srcId="{8F006B59-AADC-4B6A-AD40-497251311301}" destId="{F793DA9C-847A-4EF0-BDA8-0EBCF60667BB}" srcOrd="0" destOrd="0" presId="urn:microsoft.com/office/officeart/2018/5/layout/CenteredIconLabelDescriptionList"/>
    <dgm:cxn modelId="{0EC927F6-B28B-4219-A3BB-E06E2B7E28C3}" type="presParOf" srcId="{8F006B59-AADC-4B6A-AD40-497251311301}" destId="{898AEE1D-72F0-4317-9B00-CB82AFB55815}" srcOrd="1" destOrd="0" presId="urn:microsoft.com/office/officeart/2018/5/layout/CenteredIconLabelDescriptionList"/>
    <dgm:cxn modelId="{5444A102-69A6-488A-9E4F-97B0C47576C5}" type="presParOf" srcId="{8F006B59-AADC-4B6A-AD40-497251311301}" destId="{625A9F83-3918-4EEC-A028-153BE0425992}" srcOrd="2" destOrd="0" presId="urn:microsoft.com/office/officeart/2018/5/layout/CenteredIconLabelDescriptionList"/>
    <dgm:cxn modelId="{D900D0F9-234B-49D6-BBEE-12A1A751CB3D}" type="presParOf" srcId="{8F006B59-AADC-4B6A-AD40-497251311301}" destId="{402B6043-815A-4BF1-AFD5-B5093BDC9E98}" srcOrd="3" destOrd="0" presId="urn:microsoft.com/office/officeart/2018/5/layout/CenteredIconLabelDescriptionList"/>
    <dgm:cxn modelId="{BAC14179-4070-4588-BFC5-EE484D2CF019}" type="presParOf" srcId="{8F006B59-AADC-4B6A-AD40-497251311301}" destId="{E7B417C2-9D27-4DB2-BF90-E63885E2DBF6}"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A30A0B-5BF6-4FB0-8665-9FF0F588FD0A}">
      <dsp:nvSpPr>
        <dsp:cNvPr id="0" name=""/>
        <dsp:cNvSpPr/>
      </dsp:nvSpPr>
      <dsp:spPr>
        <a:xfrm>
          <a:off x="1745398" y="2348299"/>
          <a:ext cx="2133265" cy="2133265"/>
        </a:xfrm>
        <a:prstGeom prst="gear9">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i="0" kern="1200" dirty="0">
              <a:solidFill>
                <a:schemeClr val="tx1"/>
              </a:solidFill>
            </a:rPr>
            <a:t>Accountability</a:t>
          </a:r>
          <a:r>
            <a:rPr lang="en-US" sz="600" b="0" i="0" kern="1200" dirty="0"/>
            <a:t> </a:t>
          </a:r>
          <a:endParaRPr lang="en-US" sz="600" kern="1200" dirty="0"/>
        </a:p>
      </dsp:txBody>
      <dsp:txXfrm>
        <a:off x="2174279" y="2848006"/>
        <a:ext cx="1275503" cy="1096542"/>
      </dsp:txXfrm>
    </dsp:sp>
    <dsp:sp modelId="{DD90297F-E138-42F7-846D-10A4F643A599}">
      <dsp:nvSpPr>
        <dsp:cNvPr id="0" name=""/>
        <dsp:cNvSpPr/>
      </dsp:nvSpPr>
      <dsp:spPr>
        <a:xfrm>
          <a:off x="316343" y="2233289"/>
          <a:ext cx="1551465" cy="1551465"/>
        </a:xfrm>
        <a:prstGeom prst="gear6">
          <a:avLst/>
        </a:prstGeom>
        <a:solidFill>
          <a:schemeClr val="accent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i="0" kern="1200" dirty="0">
              <a:solidFill>
                <a:schemeClr val="tx1"/>
              </a:solidFill>
              <a:latin typeface="Abadi" panose="020F0502020204030204" pitchFamily="34" charset="0"/>
            </a:rPr>
            <a:t>Responsibility</a:t>
          </a:r>
          <a:endParaRPr lang="en-US" sz="900" b="1" kern="1200" dirty="0">
            <a:solidFill>
              <a:schemeClr val="tx1"/>
            </a:solidFill>
            <a:latin typeface="Abadi" panose="020F0502020204030204" pitchFamily="34" charset="0"/>
          </a:endParaRPr>
        </a:p>
      </dsp:txBody>
      <dsp:txXfrm>
        <a:off x="706929" y="2626236"/>
        <a:ext cx="770293" cy="765571"/>
      </dsp:txXfrm>
    </dsp:sp>
    <dsp:sp modelId="{9747DE2C-7094-4651-8618-407E14F4A67A}">
      <dsp:nvSpPr>
        <dsp:cNvPr id="0" name=""/>
        <dsp:cNvSpPr/>
      </dsp:nvSpPr>
      <dsp:spPr>
        <a:xfrm rot="20700000">
          <a:off x="1373205" y="773720"/>
          <a:ext cx="1520119" cy="1520119"/>
        </a:xfrm>
        <a:prstGeom prst="gear6">
          <a:avLst/>
        </a:prstGeom>
        <a:solidFill>
          <a:schemeClr val="accent4"/>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b="1" i="0" kern="1200" dirty="0">
              <a:solidFill>
                <a:schemeClr val="tx1"/>
              </a:solidFill>
            </a:rPr>
            <a:t>Ownership</a:t>
          </a:r>
          <a:r>
            <a:rPr lang="en-US" sz="600" b="0" i="0" kern="1200" dirty="0"/>
            <a:t> </a:t>
          </a:r>
          <a:endParaRPr lang="en-US" sz="600" kern="1200" dirty="0"/>
        </a:p>
      </dsp:txBody>
      <dsp:txXfrm rot="-20700000">
        <a:off x="1706612" y="1107126"/>
        <a:ext cx="853306" cy="853306"/>
      </dsp:txXfrm>
    </dsp:sp>
    <dsp:sp modelId="{F0924667-8390-47FA-9892-F75AC0C410D5}">
      <dsp:nvSpPr>
        <dsp:cNvPr id="0" name=""/>
        <dsp:cNvSpPr/>
      </dsp:nvSpPr>
      <dsp:spPr>
        <a:xfrm>
          <a:off x="1326720" y="621572"/>
          <a:ext cx="2730579" cy="2730579"/>
        </a:xfrm>
        <a:prstGeom prst="circularArrow">
          <a:avLst>
            <a:gd name="adj1" fmla="val 4687"/>
            <a:gd name="adj2" fmla="val 299029"/>
            <a:gd name="adj3" fmla="val 2508269"/>
            <a:gd name="adj4" fmla="val 15878393"/>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0B5BDE1-AB9A-4AC9-ACB8-F1BB49A57D6A}">
      <dsp:nvSpPr>
        <dsp:cNvPr id="0" name=""/>
        <dsp:cNvSpPr/>
      </dsp:nvSpPr>
      <dsp:spPr>
        <a:xfrm>
          <a:off x="661546" y="1250940"/>
          <a:ext cx="1983936" cy="1983936"/>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96C6B4-3033-4364-B51A-77AA4318AC49}">
      <dsp:nvSpPr>
        <dsp:cNvPr id="0" name=""/>
        <dsp:cNvSpPr/>
      </dsp:nvSpPr>
      <dsp:spPr>
        <a:xfrm rot="2139403">
          <a:off x="1407027" y="346258"/>
          <a:ext cx="1991229" cy="2029391"/>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7D33EF-63EB-4E89-9DC8-77B5CADB58A2}">
      <dsp:nvSpPr>
        <dsp:cNvPr id="0" name=""/>
        <dsp:cNvSpPr/>
      </dsp:nvSpPr>
      <dsp:spPr>
        <a:xfrm>
          <a:off x="953506" y="221136"/>
          <a:ext cx="1014882" cy="10148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20EDFD-670F-4A2B-A89E-B64CE95689D1}">
      <dsp:nvSpPr>
        <dsp:cNvPr id="0" name=""/>
        <dsp:cNvSpPr/>
      </dsp:nvSpPr>
      <dsp:spPr>
        <a:xfrm>
          <a:off x="11114" y="1379931"/>
          <a:ext cx="2899665" cy="43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dirty="0"/>
            <a:t>Establish Clear Goals</a:t>
          </a:r>
        </a:p>
      </dsp:txBody>
      <dsp:txXfrm>
        <a:off x="11114" y="1379931"/>
        <a:ext cx="2899665" cy="434949"/>
      </dsp:txXfrm>
    </dsp:sp>
    <dsp:sp modelId="{DFBC49B0-3986-4256-B6C1-A7E9C3001B90}">
      <dsp:nvSpPr>
        <dsp:cNvPr id="0" name=""/>
        <dsp:cNvSpPr/>
      </dsp:nvSpPr>
      <dsp:spPr>
        <a:xfrm>
          <a:off x="11114" y="1881817"/>
          <a:ext cx="2899665" cy="1686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Font typeface="Wingdings" panose="05000000000000000000" pitchFamily="2" charset="2"/>
            <a:buNone/>
          </a:pPr>
          <a:r>
            <a:rPr lang="en-US" sz="1700" kern="1200" dirty="0"/>
            <a:t>Set roadmap</a:t>
          </a:r>
        </a:p>
        <a:p>
          <a:pPr marL="0" lvl="0" indent="0" algn="ctr" defTabSz="755650">
            <a:lnSpc>
              <a:spcPct val="100000"/>
            </a:lnSpc>
            <a:spcBef>
              <a:spcPct val="0"/>
            </a:spcBef>
            <a:spcAft>
              <a:spcPct val="35000"/>
            </a:spcAft>
            <a:buFont typeface="Wingdings" panose="05000000000000000000" pitchFamily="2" charset="2"/>
            <a:buNone/>
          </a:pPr>
          <a:r>
            <a:rPr lang="en-US" sz="1700" kern="1200" dirty="0"/>
            <a:t>Provide resources</a:t>
          </a:r>
        </a:p>
        <a:p>
          <a:pPr marL="0" lvl="0" indent="0" algn="ctr" defTabSz="755650">
            <a:lnSpc>
              <a:spcPct val="100000"/>
            </a:lnSpc>
            <a:spcBef>
              <a:spcPct val="0"/>
            </a:spcBef>
            <a:spcAft>
              <a:spcPct val="35000"/>
            </a:spcAft>
            <a:buFont typeface="Wingdings" panose="05000000000000000000" pitchFamily="2" charset="2"/>
            <a:buNone/>
          </a:pPr>
          <a:r>
            <a:rPr lang="en-US" sz="1700" kern="1200" dirty="0"/>
            <a:t>Clear communication</a:t>
          </a:r>
        </a:p>
        <a:p>
          <a:pPr marL="0" lvl="0" indent="0" algn="ctr" defTabSz="755650">
            <a:lnSpc>
              <a:spcPct val="100000"/>
            </a:lnSpc>
            <a:spcBef>
              <a:spcPct val="0"/>
            </a:spcBef>
            <a:spcAft>
              <a:spcPct val="35000"/>
            </a:spcAft>
            <a:buFont typeface="Wingdings" panose="05000000000000000000" pitchFamily="2" charset="2"/>
            <a:buNone/>
          </a:pPr>
          <a:r>
            <a:rPr lang="en-US" sz="1700" kern="1200" dirty="0"/>
            <a:t>Trust &amp; Empowerment</a:t>
          </a:r>
        </a:p>
        <a:p>
          <a:pPr marL="0" lvl="0" indent="0" algn="ctr" defTabSz="755650">
            <a:lnSpc>
              <a:spcPct val="100000"/>
            </a:lnSpc>
            <a:spcBef>
              <a:spcPct val="0"/>
            </a:spcBef>
            <a:spcAft>
              <a:spcPct val="35000"/>
            </a:spcAft>
            <a:buFont typeface="Wingdings" panose="05000000000000000000" pitchFamily="2" charset="2"/>
            <a:buNone/>
          </a:pPr>
          <a:r>
            <a:rPr lang="en-US" sz="1700" kern="1200" dirty="0"/>
            <a:t>Transparency </a:t>
          </a:r>
        </a:p>
      </dsp:txBody>
      <dsp:txXfrm>
        <a:off x="11114" y="1881817"/>
        <a:ext cx="2899665" cy="1686111"/>
      </dsp:txXfrm>
    </dsp:sp>
    <dsp:sp modelId="{F48C6E96-39BA-45C9-BA48-EF9B6CD0BC48}">
      <dsp:nvSpPr>
        <dsp:cNvPr id="0" name=""/>
        <dsp:cNvSpPr/>
      </dsp:nvSpPr>
      <dsp:spPr>
        <a:xfrm>
          <a:off x="4360613" y="221136"/>
          <a:ext cx="1014882" cy="10148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A0ABB0-6BB0-47C3-8277-BB16B5F36956}">
      <dsp:nvSpPr>
        <dsp:cNvPr id="0" name=""/>
        <dsp:cNvSpPr/>
      </dsp:nvSpPr>
      <dsp:spPr>
        <a:xfrm>
          <a:off x="3418221" y="1379931"/>
          <a:ext cx="2899665" cy="43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dirty="0"/>
            <a:t>Regular Check-ins</a:t>
          </a:r>
        </a:p>
      </dsp:txBody>
      <dsp:txXfrm>
        <a:off x="3418221" y="1379931"/>
        <a:ext cx="2899665" cy="434949"/>
      </dsp:txXfrm>
    </dsp:sp>
    <dsp:sp modelId="{A5702B7F-B952-4190-A987-D017922473B8}">
      <dsp:nvSpPr>
        <dsp:cNvPr id="0" name=""/>
        <dsp:cNvSpPr/>
      </dsp:nvSpPr>
      <dsp:spPr>
        <a:xfrm>
          <a:off x="3418221" y="1881817"/>
          <a:ext cx="2899665" cy="1686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Periodic follow ups</a:t>
          </a:r>
        </a:p>
        <a:p>
          <a:pPr marL="0" lvl="0" indent="0" algn="ctr" defTabSz="755650">
            <a:lnSpc>
              <a:spcPct val="100000"/>
            </a:lnSpc>
            <a:spcBef>
              <a:spcPct val="0"/>
            </a:spcBef>
            <a:spcAft>
              <a:spcPct val="35000"/>
            </a:spcAft>
            <a:buNone/>
          </a:pPr>
          <a:r>
            <a:rPr lang="en-US" sz="1700" kern="1200" dirty="0"/>
            <a:t>Celebrate milestones</a:t>
          </a:r>
        </a:p>
        <a:p>
          <a:pPr marL="0" lvl="0" indent="0" algn="ctr" defTabSz="755650">
            <a:lnSpc>
              <a:spcPct val="100000"/>
            </a:lnSpc>
            <a:spcBef>
              <a:spcPct val="0"/>
            </a:spcBef>
            <a:spcAft>
              <a:spcPct val="35000"/>
            </a:spcAft>
            <a:buNone/>
          </a:pPr>
          <a:r>
            <a:rPr lang="en-US" sz="1700" kern="1200" dirty="0"/>
            <a:t>Address challenges</a:t>
          </a:r>
        </a:p>
        <a:p>
          <a:pPr marL="0" lvl="0" indent="0" algn="ctr" defTabSz="755650">
            <a:lnSpc>
              <a:spcPct val="100000"/>
            </a:lnSpc>
            <a:spcBef>
              <a:spcPct val="0"/>
            </a:spcBef>
            <a:spcAft>
              <a:spcPct val="35000"/>
            </a:spcAft>
            <a:buNone/>
          </a:pPr>
          <a:r>
            <a:rPr lang="en-US" sz="1700" kern="1200" dirty="0"/>
            <a:t>Building relationships</a:t>
          </a:r>
        </a:p>
        <a:p>
          <a:pPr marL="0" lvl="0" indent="0" algn="ctr" defTabSz="755650">
            <a:lnSpc>
              <a:spcPct val="100000"/>
            </a:lnSpc>
            <a:spcBef>
              <a:spcPct val="0"/>
            </a:spcBef>
            <a:spcAft>
              <a:spcPct val="35000"/>
            </a:spcAft>
            <a:buNone/>
          </a:pPr>
          <a:r>
            <a:rPr lang="en-US" sz="1700" kern="1200" dirty="0"/>
            <a:t>Be adaptive and flexible</a:t>
          </a:r>
        </a:p>
      </dsp:txBody>
      <dsp:txXfrm>
        <a:off x="3418221" y="1881817"/>
        <a:ext cx="2899665" cy="1686111"/>
      </dsp:txXfrm>
    </dsp:sp>
    <dsp:sp modelId="{F793DA9C-847A-4EF0-BDA8-0EBCF60667BB}">
      <dsp:nvSpPr>
        <dsp:cNvPr id="0" name=""/>
        <dsp:cNvSpPr/>
      </dsp:nvSpPr>
      <dsp:spPr>
        <a:xfrm>
          <a:off x="7767720" y="221136"/>
          <a:ext cx="1014882" cy="10148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25A9F83-3918-4EEC-A028-153BE0425992}">
      <dsp:nvSpPr>
        <dsp:cNvPr id="0" name=""/>
        <dsp:cNvSpPr/>
      </dsp:nvSpPr>
      <dsp:spPr>
        <a:xfrm>
          <a:off x="6774526" y="1258054"/>
          <a:ext cx="2899665" cy="43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b="1" kern="1200" dirty="0" err="1"/>
            <a:t>WorkiQ</a:t>
          </a:r>
          <a:endParaRPr lang="en-US" sz="2300" kern="1200" dirty="0"/>
        </a:p>
      </dsp:txBody>
      <dsp:txXfrm>
        <a:off x="6774526" y="1258054"/>
        <a:ext cx="2899665" cy="434949"/>
      </dsp:txXfrm>
    </dsp:sp>
    <dsp:sp modelId="{E7B417C2-9D27-4DB2-BF90-E63885E2DBF6}">
      <dsp:nvSpPr>
        <dsp:cNvPr id="0" name=""/>
        <dsp:cNvSpPr/>
      </dsp:nvSpPr>
      <dsp:spPr>
        <a:xfrm>
          <a:off x="6744080" y="1692871"/>
          <a:ext cx="2899665" cy="1686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b="0" kern="1200" dirty="0">
              <a:effectLst/>
              <a:latin typeface="+mn-lt"/>
              <a:ea typeface="Times New Roman" panose="02020603050405020304" pitchFamily="18" charset="0"/>
              <a:cs typeface="Aptos" panose="020B0004020202020204" pitchFamily="34" charset="0"/>
            </a:rPr>
            <a:t>Tracks time spent in work and non-work applications</a:t>
          </a:r>
          <a:endParaRPr lang="en-US" sz="1700" b="0" kern="1200" dirty="0">
            <a:latin typeface="+mn-lt"/>
          </a:endParaRPr>
        </a:p>
        <a:p>
          <a:pPr marL="0" lvl="0" indent="0" algn="ctr" defTabSz="755650">
            <a:lnSpc>
              <a:spcPct val="100000"/>
            </a:lnSpc>
            <a:spcBef>
              <a:spcPct val="0"/>
            </a:spcBef>
            <a:spcAft>
              <a:spcPct val="35000"/>
            </a:spcAft>
            <a:buNone/>
          </a:pPr>
          <a:r>
            <a:rPr lang="en-US" sz="1700" b="0" kern="1200" dirty="0">
              <a:effectLst/>
              <a:latin typeface="+mn-lt"/>
              <a:ea typeface="Times New Roman" panose="02020603050405020304" pitchFamily="18" charset="0"/>
              <a:cs typeface="Aptos" panose="020B0004020202020204" pitchFamily="34" charset="0"/>
            </a:rPr>
            <a:t>Measures idle time (e.g., breaks, lunch)</a:t>
          </a:r>
          <a:endParaRPr lang="en-US" sz="1700" b="0" kern="1200" dirty="0">
            <a:effectLst/>
            <a:latin typeface="+mn-lt"/>
            <a:ea typeface="Aptos" panose="020B0004020202020204" pitchFamily="34" charset="0"/>
            <a:cs typeface="Aptos" panose="020B0004020202020204" pitchFamily="34" charset="0"/>
          </a:endParaRPr>
        </a:p>
        <a:p>
          <a:pPr marL="0" lvl="0" indent="0" algn="ctr" defTabSz="755650">
            <a:lnSpc>
              <a:spcPct val="100000"/>
            </a:lnSpc>
            <a:spcBef>
              <a:spcPct val="0"/>
            </a:spcBef>
            <a:spcAft>
              <a:spcPct val="35000"/>
            </a:spcAft>
            <a:buNone/>
          </a:pPr>
          <a:r>
            <a:rPr lang="en-US" sz="1700" b="0" kern="1200" dirty="0">
              <a:effectLst/>
              <a:latin typeface="+mn-lt"/>
              <a:ea typeface="Times New Roman" panose="02020603050405020304" pitchFamily="18" charset="0"/>
              <a:cs typeface="Aptos" panose="020B0004020202020204" pitchFamily="34" charset="0"/>
            </a:rPr>
            <a:t>Shows overall activity patterns</a:t>
          </a:r>
          <a:endParaRPr lang="en-US" sz="1700" b="0" kern="1200" dirty="0">
            <a:effectLst/>
            <a:latin typeface="+mn-lt"/>
            <a:ea typeface="Aptos" panose="020B0004020202020204" pitchFamily="34" charset="0"/>
            <a:cs typeface="Aptos" panose="020B0004020202020204" pitchFamily="34" charset="0"/>
          </a:endParaRPr>
        </a:p>
      </dsp:txBody>
      <dsp:txXfrm>
        <a:off x="6744080" y="1692871"/>
        <a:ext cx="2899665" cy="1686111"/>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0ECCC-F22B-4C03-AA72-5890B1580E25}"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C8A441-7089-4294-B720-81E8524F5CF1}" type="slidenum">
              <a:rPr lang="en-US" smtClean="0"/>
              <a:t>‹#›</a:t>
            </a:fld>
            <a:endParaRPr lang="en-US"/>
          </a:p>
        </p:txBody>
      </p:sp>
    </p:spTree>
    <p:extLst>
      <p:ext uri="{BB962C8B-B14F-4D97-AF65-F5344CB8AC3E}">
        <p14:creationId xmlns:p14="http://schemas.microsoft.com/office/powerpoint/2010/main" val="141216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Download dataset  </a:t>
            </a:r>
          </a:p>
          <a:p>
            <a:r>
              <a:rPr lang="en-US" b="1" u="sng" dirty="0">
                <a:solidFill>
                  <a:srgbClr val="FF0000"/>
                </a:solidFill>
              </a:rPr>
              <a:t>For Data cleaning involved </a:t>
            </a:r>
          </a:p>
          <a:p>
            <a:r>
              <a:rPr lang="en-US" dirty="0"/>
              <a:t>removing columns &amp; rows</a:t>
            </a:r>
          </a:p>
          <a:p>
            <a:r>
              <a:rPr lang="en-US" dirty="0"/>
              <a:t>for start and completion date – business days and holidays are in consideration</a:t>
            </a:r>
          </a:p>
          <a:p>
            <a:r>
              <a:rPr lang="en-US" dirty="0"/>
              <a:t>Renaming Employee name due to confidentially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Analyzed using python through google Collab</a:t>
            </a:r>
          </a:p>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2</a:t>
            </a:fld>
            <a:endParaRPr lang="en-US"/>
          </a:p>
        </p:txBody>
      </p:sp>
    </p:spTree>
    <p:extLst>
      <p:ext uri="{BB962C8B-B14F-4D97-AF65-F5344CB8AC3E}">
        <p14:creationId xmlns:p14="http://schemas.microsoft.com/office/powerpoint/2010/main" val="1594267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3</a:t>
            </a:fld>
            <a:endParaRPr lang="en-US"/>
          </a:p>
        </p:txBody>
      </p:sp>
    </p:spTree>
    <p:extLst>
      <p:ext uri="{BB962C8B-B14F-4D97-AF65-F5344CB8AC3E}">
        <p14:creationId xmlns:p14="http://schemas.microsoft.com/office/powerpoint/2010/main" val="3634907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As we see 2 of the Team members, Esha and Kavita, outperformed others in 2025 in the number of tasks completed.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Kavita’s # seem same compared to others but she started with company in March 2025.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3 Senior team members, Ethan, Irene and Harish were not “on pair” with the productivity of new team members while maintaining similar qualitative performance indicators. </a:t>
            </a:r>
          </a:p>
        </p:txBody>
      </p:sp>
      <p:sp>
        <p:nvSpPr>
          <p:cNvPr id="4" name="Slide Number Placeholder 3"/>
          <p:cNvSpPr>
            <a:spLocks noGrp="1"/>
          </p:cNvSpPr>
          <p:nvPr>
            <p:ph type="sldNum" sz="quarter" idx="5"/>
          </p:nvPr>
        </p:nvSpPr>
        <p:spPr/>
        <p:txBody>
          <a:bodyPr/>
          <a:lstStyle/>
          <a:p>
            <a:fld id="{4AC8A441-7089-4294-B720-81E8524F5CF1}" type="slidenum">
              <a:rPr lang="en-US" smtClean="0"/>
              <a:t>4</a:t>
            </a:fld>
            <a:endParaRPr lang="en-US"/>
          </a:p>
        </p:txBody>
      </p:sp>
    </p:spTree>
    <p:extLst>
      <p:ext uri="{BB962C8B-B14F-4D97-AF65-F5344CB8AC3E}">
        <p14:creationId xmlns:p14="http://schemas.microsoft.com/office/powerpoint/2010/main" val="39637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5</a:t>
            </a:fld>
            <a:endParaRPr lang="en-US"/>
          </a:p>
        </p:txBody>
      </p:sp>
    </p:spTree>
    <p:extLst>
      <p:ext uri="{BB962C8B-B14F-4D97-AF65-F5344CB8AC3E}">
        <p14:creationId xmlns:p14="http://schemas.microsoft.com/office/powerpoint/2010/main" val="1058533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With this slide you see the average time utilized to complete each task.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From the data I analyzed, I pulled the times from when team started a task to times when team completed a task.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Average time to complete a task was 685 mins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2 of our new team members were within average time VS. 3 of our senior techs utilized way more time (about 120+ mins) than average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6</a:t>
            </a:fld>
            <a:endParaRPr lang="en-US"/>
          </a:p>
        </p:txBody>
      </p:sp>
    </p:spTree>
    <p:extLst>
      <p:ext uri="{BB962C8B-B14F-4D97-AF65-F5344CB8AC3E}">
        <p14:creationId xmlns:p14="http://schemas.microsoft.com/office/powerpoint/2010/main" val="2557898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Esha	Ethan	Harish	Irene	Kavita</a:t>
            </a:r>
          </a:p>
          <a:p>
            <a:r>
              <a:rPr lang="en-US" dirty="0"/>
              <a:t>Clinical Review	426.555981	598.872264	670.601695	646.063993	475.52385</a:t>
            </a:r>
          </a:p>
          <a:p>
            <a:r>
              <a:rPr lang="en-US" dirty="0"/>
              <a:t>Notification	383.929463	464.85274	498.771396	464.266084	</a:t>
            </a:r>
            <a:r>
              <a:rPr lang="en-US" dirty="0">
                <a:solidFill>
                  <a:srgbClr val="FF0000"/>
                </a:solidFill>
                <a:highlight>
                  <a:srgbClr val="FF00FF"/>
                </a:highlight>
              </a:rPr>
              <a:t>352.407039</a:t>
            </a:r>
          </a:p>
          <a:p>
            <a:endParaRPr lang="en-US" dirty="0">
              <a:solidFill>
                <a:srgbClr val="FF0000"/>
              </a:solidFill>
              <a:highlight>
                <a:srgbClr val="FF00FF"/>
              </a:highlight>
            </a:endParaRPr>
          </a:p>
          <a:p>
            <a:r>
              <a:rPr lang="en-US" dirty="0">
                <a:solidFill>
                  <a:srgbClr val="FF0000"/>
                </a:solidFill>
                <a:highlight>
                  <a:srgbClr val="FF00FF"/>
                </a:highlight>
              </a:rPr>
              <a:t>With that being said, Esha knocked out clinical reviews &amp; Kavita knocked out notifications way faster than the rest of the team. </a:t>
            </a:r>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7</a:t>
            </a:fld>
            <a:endParaRPr lang="en-US"/>
          </a:p>
        </p:txBody>
      </p:sp>
    </p:spTree>
    <p:extLst>
      <p:ext uri="{BB962C8B-B14F-4D97-AF65-F5344CB8AC3E}">
        <p14:creationId xmlns:p14="http://schemas.microsoft.com/office/powerpoint/2010/main" val="1121890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8</a:t>
            </a:fld>
            <a:endParaRPr lang="en-US"/>
          </a:p>
        </p:txBody>
      </p:sp>
    </p:spTree>
    <p:extLst>
      <p:ext uri="{BB962C8B-B14F-4D97-AF65-F5344CB8AC3E}">
        <p14:creationId xmlns:p14="http://schemas.microsoft.com/office/powerpoint/2010/main" val="2042862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4AC8A441-7089-4294-B720-81E8524F5CF1}" type="slidenum">
              <a:rPr lang="en-US" smtClean="0"/>
              <a:t>9</a:t>
            </a:fld>
            <a:endParaRPr lang="en-US"/>
          </a:p>
        </p:txBody>
      </p:sp>
    </p:spTree>
    <p:extLst>
      <p:ext uri="{BB962C8B-B14F-4D97-AF65-F5344CB8AC3E}">
        <p14:creationId xmlns:p14="http://schemas.microsoft.com/office/powerpoint/2010/main" val="623198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graph I have use data from month of September 2025</a:t>
            </a:r>
          </a:p>
          <a:p>
            <a:endParaRPr lang="en-US" dirty="0"/>
          </a:p>
          <a:p>
            <a:r>
              <a:rPr lang="en-US" dirty="0"/>
              <a:t>As you see on the graph Hourly productivity was </a:t>
            </a:r>
            <a:r>
              <a:rPr lang="en-US" sz="1200" dirty="0">
                <a:solidFill>
                  <a:srgbClr val="FF0000"/>
                </a:solidFill>
              </a:rPr>
              <a:t>consistent throughout the day for some of the users when compared to others.</a:t>
            </a:r>
            <a:r>
              <a:rPr lang="en-US" dirty="0"/>
              <a:t> </a:t>
            </a:r>
          </a:p>
        </p:txBody>
      </p:sp>
      <p:sp>
        <p:nvSpPr>
          <p:cNvPr id="4" name="Slide Number Placeholder 3"/>
          <p:cNvSpPr>
            <a:spLocks noGrp="1"/>
          </p:cNvSpPr>
          <p:nvPr>
            <p:ph type="sldNum" sz="quarter" idx="5"/>
          </p:nvPr>
        </p:nvSpPr>
        <p:spPr/>
        <p:txBody>
          <a:bodyPr/>
          <a:lstStyle/>
          <a:p>
            <a:fld id="{4AC8A441-7089-4294-B720-81E8524F5CF1}" type="slidenum">
              <a:rPr lang="en-US" smtClean="0"/>
              <a:t>10</a:t>
            </a:fld>
            <a:endParaRPr lang="en-US"/>
          </a:p>
        </p:txBody>
      </p:sp>
    </p:spTree>
    <p:extLst>
      <p:ext uri="{BB962C8B-B14F-4D97-AF65-F5344CB8AC3E}">
        <p14:creationId xmlns:p14="http://schemas.microsoft.com/office/powerpoint/2010/main" val="1877579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You must be wondering why are doing hourly comparison? </a:t>
            </a:r>
            <a:r>
              <a:rPr lang="en-US" dirty="0">
                <a:solidFill>
                  <a:schemeClr val="accent5"/>
                </a:solidFill>
                <a:highlight>
                  <a:srgbClr val="FFFF00"/>
                </a:highlight>
              </a:rPr>
              <a:t>As per CMS regulation we must review an authorization request within 24 to 72 hours which include clinical review, determination as well as notifications  -  all Must Happen within this define Turnaround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Are we micromanaging? No – </a:t>
            </a:r>
            <a:r>
              <a:rPr lang="en-US" dirty="0">
                <a:solidFill>
                  <a:schemeClr val="tx2"/>
                </a:solidFill>
              </a:rPr>
              <a:t>Normal business hours were 9 to 5:30 but graph shows least productivity outside of the business hours - as we believe in work balance life &amp; allow flexibility in schedule if needed.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solidFill>
                  <a:schemeClr val="tx2"/>
                </a:solidFill>
              </a:rPr>
              <a:t>      </a:t>
            </a:r>
            <a:r>
              <a:rPr lang="en-US" b="1" u="sng" dirty="0">
                <a:solidFill>
                  <a:schemeClr val="tx2"/>
                </a:solidFill>
              </a:rPr>
              <a:t>Determine factors influencing higher number of tasks not completed.”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Based on Notification chart – being more productive towards end of the day instead through out the day led us to </a:t>
            </a:r>
            <a:r>
              <a:rPr lang="en-US" dirty="0">
                <a:solidFill>
                  <a:schemeClr val="tx2"/>
                </a:solidFill>
              </a:rPr>
              <a:t>higher # uncompleted 2</a:t>
            </a:r>
            <a:r>
              <a:rPr lang="en-US" baseline="30000" dirty="0">
                <a:solidFill>
                  <a:schemeClr val="tx2"/>
                </a:solidFill>
              </a:rPr>
              <a:t>nd</a:t>
            </a:r>
            <a:r>
              <a:rPr lang="en-US" dirty="0">
                <a:solidFill>
                  <a:schemeClr val="tx2"/>
                </a:solidFill>
              </a:rPr>
              <a:t> attempt notification tasks – with that we can be at Compliance Risks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2"/>
                </a:solidFill>
              </a:rPr>
              <a:t>Based on Clinical Review chart - being least productive </a:t>
            </a:r>
            <a:r>
              <a:rPr lang="en-US" dirty="0"/>
              <a:t>towards end of the day instead through out the day led us to </a:t>
            </a:r>
            <a:r>
              <a:rPr lang="en-US" dirty="0">
                <a:solidFill>
                  <a:schemeClr val="tx2"/>
                </a:solidFill>
              </a:rPr>
              <a:t>higher # of uncompleted Clinical review tasks</a:t>
            </a:r>
          </a:p>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11</a:t>
            </a:fld>
            <a:endParaRPr lang="en-US"/>
          </a:p>
        </p:txBody>
      </p:sp>
    </p:spTree>
    <p:extLst>
      <p:ext uri="{BB962C8B-B14F-4D97-AF65-F5344CB8AC3E}">
        <p14:creationId xmlns:p14="http://schemas.microsoft.com/office/powerpoint/2010/main" val="3013310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would like to highlight some important traits of achieving productivity and quality set by the department and the organization.</a:t>
            </a:r>
          </a:p>
          <a:p>
            <a:r>
              <a:rPr lang="en-US" dirty="0"/>
              <a:t>Key factors are: </a:t>
            </a:r>
          </a:p>
          <a:p>
            <a:pPr marL="171450" indent="-171450">
              <a:buFont typeface="Arial" panose="020B0604020202020204" pitchFamily="34" charset="0"/>
              <a:buChar char="•"/>
            </a:pPr>
            <a:r>
              <a:rPr lang="en-US" dirty="0"/>
              <a:t>Ownership mindset &amp; behavior  - help us achieve individual as we as organization goal </a:t>
            </a:r>
          </a:p>
          <a:p>
            <a:pPr marL="171450" indent="-171450">
              <a:buFont typeface="Arial" panose="020B0604020202020204" pitchFamily="34" charset="0"/>
              <a:buChar char="•"/>
            </a:pPr>
            <a:r>
              <a:rPr lang="en-US" dirty="0"/>
              <a:t>Doing the job Vs. achieving results – keeps you motivated</a:t>
            </a:r>
          </a:p>
          <a:p>
            <a:pPr marL="171450" indent="-171450">
              <a:buFont typeface="Arial" panose="020B0604020202020204" pitchFamily="34" charset="0"/>
              <a:buChar char="•"/>
            </a:pPr>
            <a:r>
              <a:rPr lang="en-US" dirty="0"/>
              <a:t>Blaming others Vs. taking accountability –  help us stay focus &amp; growth.</a:t>
            </a:r>
          </a:p>
          <a:p>
            <a:pPr marL="171450" indent="-171450">
              <a:buFont typeface="Arial" panose="020B0604020202020204" pitchFamily="34" charset="0"/>
              <a:buChar char="•"/>
            </a:pPr>
            <a:r>
              <a:rPr lang="en-US" dirty="0"/>
              <a:t>Responsibility: a foundation for success – as successful individual makes successful department &amp; organization </a:t>
            </a:r>
          </a:p>
          <a:p>
            <a:endParaRPr lang="en-US" dirty="0"/>
          </a:p>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13</a:t>
            </a:fld>
            <a:endParaRPr lang="en-US"/>
          </a:p>
        </p:txBody>
      </p:sp>
    </p:spTree>
    <p:extLst>
      <p:ext uri="{BB962C8B-B14F-4D97-AF65-F5344CB8AC3E}">
        <p14:creationId xmlns:p14="http://schemas.microsoft.com/office/powerpoint/2010/main" val="2435257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14</a:t>
            </a:fld>
            <a:endParaRPr lang="en-US"/>
          </a:p>
        </p:txBody>
      </p:sp>
    </p:spTree>
    <p:extLst>
      <p:ext uri="{BB962C8B-B14F-4D97-AF65-F5344CB8AC3E}">
        <p14:creationId xmlns:p14="http://schemas.microsoft.com/office/powerpoint/2010/main" val="1963894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C8A441-7089-4294-B720-81E8524F5CF1}" type="slidenum">
              <a:rPr lang="en-US" smtClean="0"/>
              <a:t>15</a:t>
            </a:fld>
            <a:endParaRPr lang="en-US"/>
          </a:p>
        </p:txBody>
      </p:sp>
    </p:spTree>
    <p:extLst>
      <p:ext uri="{BB962C8B-B14F-4D97-AF65-F5344CB8AC3E}">
        <p14:creationId xmlns:p14="http://schemas.microsoft.com/office/powerpoint/2010/main" val="2715582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29255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285735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3011400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FE43B3-32DE-4C23-B938-E002D1F976B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2527508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FE43B3-32DE-4C23-B938-E002D1F976B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3185884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FE43B3-32DE-4C23-B938-E002D1F976B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146436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FE43B3-32DE-4C23-B938-E002D1F976B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1818530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FE43B3-32DE-4C23-B938-E002D1F976B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94166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FE43B3-32DE-4C23-B938-E002D1F976B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2983434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4268109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35470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1328735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34206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1340828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1828671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FE43B3-32DE-4C23-B938-E002D1F976B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725598-AAA3-4DBA-876C-3D29E7A701C7}" type="slidenum">
              <a:rPr lang="en-US" smtClean="0"/>
              <a:t>‹#›</a:t>
            </a:fld>
            <a:endParaRPr lang="en-US"/>
          </a:p>
        </p:txBody>
      </p:sp>
    </p:spTree>
    <p:extLst>
      <p:ext uri="{BB962C8B-B14F-4D97-AF65-F5344CB8AC3E}">
        <p14:creationId xmlns:p14="http://schemas.microsoft.com/office/powerpoint/2010/main" val="2031742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2FE43B3-32DE-4C23-B938-E002D1F976B4}" type="datetimeFigureOut">
              <a:rPr lang="en-US" smtClean="0"/>
              <a:t>6/7/2026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5725598-AAA3-4DBA-876C-3D29E7A701C7}" type="slidenum">
              <a:rPr lang="en-US" smtClean="0"/>
              <a:t>‹#›</a:t>
            </a:fld>
            <a:endParaRPr lang="en-US"/>
          </a:p>
        </p:txBody>
      </p:sp>
    </p:spTree>
    <p:extLst>
      <p:ext uri="{BB962C8B-B14F-4D97-AF65-F5344CB8AC3E}">
        <p14:creationId xmlns:p14="http://schemas.microsoft.com/office/powerpoint/2010/main" val="168082465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ebstockreview.net/explore/free-clipart-question/"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1AC1B-F0A6-F9EB-3CC4-A00DBE2C87D6}"/>
              </a:ext>
            </a:extLst>
          </p:cNvPr>
          <p:cNvSpPr>
            <a:spLocks noGrp="1"/>
          </p:cNvSpPr>
          <p:nvPr>
            <p:ph type="ctrTitle"/>
          </p:nvPr>
        </p:nvSpPr>
        <p:spPr>
          <a:xfrm>
            <a:off x="4882897" y="941832"/>
            <a:ext cx="4825307" cy="3499461"/>
          </a:xfrm>
        </p:spPr>
        <p:txBody>
          <a:bodyPr>
            <a:normAutofit fontScale="90000"/>
          </a:bodyPr>
          <a:lstStyle/>
          <a:p>
            <a:pPr algn="l">
              <a:lnSpc>
                <a:spcPct val="90000"/>
              </a:lnSpc>
            </a:pPr>
            <a:r>
              <a:rPr lang="en-US" b="1" dirty="0"/>
              <a:t>Remote Team Member’s  Productivity Trends for Year 2025</a:t>
            </a:r>
          </a:p>
        </p:txBody>
      </p:sp>
      <p:sp>
        <p:nvSpPr>
          <p:cNvPr id="3" name="Subtitle 2">
            <a:extLst>
              <a:ext uri="{FF2B5EF4-FFF2-40B4-BE49-F238E27FC236}">
                <a16:creationId xmlns:a16="http://schemas.microsoft.com/office/drawing/2014/main" id="{053EF5E3-9531-6C46-ED85-35D381CE06CA}"/>
              </a:ext>
            </a:extLst>
          </p:cNvPr>
          <p:cNvSpPr>
            <a:spLocks noGrp="1"/>
          </p:cNvSpPr>
          <p:nvPr>
            <p:ph type="subTitle" idx="1"/>
          </p:nvPr>
        </p:nvSpPr>
        <p:spPr>
          <a:xfrm>
            <a:off x="4974336" y="4514446"/>
            <a:ext cx="4733868" cy="871042"/>
          </a:xfrm>
        </p:spPr>
        <p:txBody>
          <a:bodyPr>
            <a:noAutofit/>
          </a:bodyPr>
          <a:lstStyle/>
          <a:p>
            <a:pPr algn="l">
              <a:lnSpc>
                <a:spcPct val="90000"/>
              </a:lnSpc>
            </a:pPr>
            <a:r>
              <a:rPr lang="en-US" sz="1600" b="1" dirty="0">
                <a:solidFill>
                  <a:schemeClr val="tx2"/>
                </a:solidFill>
              </a:rPr>
              <a:t>Capstone – LGCC Data Analytics Cohort 6 (2025-2026)</a:t>
            </a:r>
          </a:p>
          <a:p>
            <a:pPr algn="l">
              <a:lnSpc>
                <a:spcPct val="90000"/>
              </a:lnSpc>
            </a:pPr>
            <a:r>
              <a:rPr lang="en-US" sz="1600" b="1" dirty="0">
                <a:solidFill>
                  <a:schemeClr val="tx2"/>
                </a:solidFill>
              </a:rPr>
              <a:t>Archana Shah</a:t>
            </a:r>
          </a:p>
        </p:txBody>
      </p:sp>
      <p:sp>
        <p:nvSpPr>
          <p:cNvPr id="10" name="Isosceles Triangle 9">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Upward trend">
            <a:extLst>
              <a:ext uri="{FF2B5EF4-FFF2-40B4-BE49-F238E27FC236}">
                <a16:creationId xmlns:a16="http://schemas.microsoft.com/office/drawing/2014/main" id="{598DDD60-3D2B-321D-D56E-1D0AA7DB5D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8604" y="1550139"/>
            <a:ext cx="3765692" cy="3765692"/>
          </a:xfrm>
          <a:prstGeom prst="rect">
            <a:avLst/>
          </a:prstGeom>
        </p:spPr>
      </p:pic>
    </p:spTree>
    <p:extLst>
      <p:ext uri="{BB962C8B-B14F-4D97-AF65-F5344CB8AC3E}">
        <p14:creationId xmlns:p14="http://schemas.microsoft.com/office/powerpoint/2010/main" val="269486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BB76B-2CC3-6D6B-4654-E82712E0D671}"/>
              </a:ext>
            </a:extLst>
          </p:cNvPr>
          <p:cNvSpPr>
            <a:spLocks noGrp="1"/>
          </p:cNvSpPr>
          <p:nvPr>
            <p:ph type="title"/>
          </p:nvPr>
        </p:nvSpPr>
        <p:spPr>
          <a:xfrm>
            <a:off x="3988090" y="1041962"/>
            <a:ext cx="4707951" cy="712571"/>
          </a:xfrm>
        </p:spPr>
        <p:txBody>
          <a:bodyPr/>
          <a:lstStyle/>
          <a:p>
            <a:pPr algn="ctr"/>
            <a:r>
              <a:rPr lang="en-US" b="1" u="sng" dirty="0"/>
              <a:t>Python Libraries</a:t>
            </a:r>
          </a:p>
        </p:txBody>
      </p:sp>
      <p:pic>
        <p:nvPicPr>
          <p:cNvPr id="8" name="Content Placeholder 7">
            <a:extLst>
              <a:ext uri="{FF2B5EF4-FFF2-40B4-BE49-F238E27FC236}">
                <a16:creationId xmlns:a16="http://schemas.microsoft.com/office/drawing/2014/main" id="{45F7652A-D711-7158-77AE-97FEE3C2E7A5}"/>
              </a:ext>
            </a:extLst>
          </p:cNvPr>
          <p:cNvPicPr>
            <a:picLocks noGrp="1" noChangeAspect="1"/>
          </p:cNvPicPr>
          <p:nvPr>
            <p:ph idx="1"/>
          </p:nvPr>
        </p:nvPicPr>
        <p:blipFill>
          <a:blip r:embed="rId3"/>
          <a:stretch>
            <a:fillRect/>
          </a:stretch>
        </p:blipFill>
        <p:spPr>
          <a:xfrm>
            <a:off x="4390522" y="4793522"/>
            <a:ext cx="4497446" cy="533323"/>
          </a:xfrm>
          <a:prstGeom prst="rect">
            <a:avLst/>
          </a:prstGeom>
        </p:spPr>
      </p:pic>
      <p:pic>
        <p:nvPicPr>
          <p:cNvPr id="10" name="Picture 9">
            <a:extLst>
              <a:ext uri="{FF2B5EF4-FFF2-40B4-BE49-F238E27FC236}">
                <a16:creationId xmlns:a16="http://schemas.microsoft.com/office/drawing/2014/main" id="{C9B04771-387C-FF07-8EA3-8FE33E8EACA4}"/>
              </a:ext>
            </a:extLst>
          </p:cNvPr>
          <p:cNvPicPr>
            <a:picLocks noChangeAspect="1"/>
          </p:cNvPicPr>
          <p:nvPr/>
        </p:nvPicPr>
        <p:blipFill>
          <a:blip r:embed="rId3"/>
          <a:stretch>
            <a:fillRect/>
          </a:stretch>
        </p:blipFill>
        <p:spPr>
          <a:xfrm>
            <a:off x="4390522" y="3850220"/>
            <a:ext cx="4497445" cy="375276"/>
          </a:xfrm>
          <a:prstGeom prst="rect">
            <a:avLst/>
          </a:prstGeom>
        </p:spPr>
      </p:pic>
      <p:pic>
        <p:nvPicPr>
          <p:cNvPr id="14" name="Picture 13">
            <a:extLst>
              <a:ext uri="{FF2B5EF4-FFF2-40B4-BE49-F238E27FC236}">
                <a16:creationId xmlns:a16="http://schemas.microsoft.com/office/drawing/2014/main" id="{59AFC9B4-C824-4C20-E0EC-C03D171C60AE}"/>
              </a:ext>
            </a:extLst>
          </p:cNvPr>
          <p:cNvPicPr>
            <a:picLocks noChangeAspect="1"/>
          </p:cNvPicPr>
          <p:nvPr/>
        </p:nvPicPr>
        <p:blipFill>
          <a:blip r:embed="rId3"/>
          <a:stretch>
            <a:fillRect/>
          </a:stretch>
        </p:blipFill>
        <p:spPr>
          <a:xfrm>
            <a:off x="4286133" y="1986203"/>
            <a:ext cx="4601834" cy="431352"/>
          </a:xfrm>
          <a:prstGeom prst="rect">
            <a:avLst/>
          </a:prstGeom>
        </p:spPr>
      </p:pic>
      <p:sp>
        <p:nvSpPr>
          <p:cNvPr id="18" name="TextBox 17">
            <a:extLst>
              <a:ext uri="{FF2B5EF4-FFF2-40B4-BE49-F238E27FC236}">
                <a16:creationId xmlns:a16="http://schemas.microsoft.com/office/drawing/2014/main" id="{C0321A4C-5EBB-25E4-1B8E-D0507DAF4993}"/>
              </a:ext>
            </a:extLst>
          </p:cNvPr>
          <p:cNvSpPr txBox="1"/>
          <p:nvPr/>
        </p:nvSpPr>
        <p:spPr>
          <a:xfrm>
            <a:off x="4815179" y="1955890"/>
            <a:ext cx="3542437" cy="461665"/>
          </a:xfrm>
          <a:prstGeom prst="rect">
            <a:avLst/>
          </a:prstGeom>
          <a:noFill/>
        </p:spPr>
        <p:txBody>
          <a:bodyPr wrap="square">
            <a:spAutoFit/>
          </a:bodyPr>
          <a:lstStyle/>
          <a:p>
            <a:r>
              <a:rPr lang="en-US" sz="2400" dirty="0"/>
              <a:t>Import pandas as pd</a:t>
            </a:r>
          </a:p>
        </p:txBody>
      </p:sp>
      <p:sp>
        <p:nvSpPr>
          <p:cNvPr id="20" name="TextBox 19">
            <a:extLst>
              <a:ext uri="{FF2B5EF4-FFF2-40B4-BE49-F238E27FC236}">
                <a16:creationId xmlns:a16="http://schemas.microsoft.com/office/drawing/2014/main" id="{EB1E3047-19E6-2E73-E049-D97A1C3F6F88}"/>
              </a:ext>
            </a:extLst>
          </p:cNvPr>
          <p:cNvSpPr txBox="1"/>
          <p:nvPr/>
        </p:nvSpPr>
        <p:spPr>
          <a:xfrm>
            <a:off x="4745723" y="3773942"/>
            <a:ext cx="3255264" cy="461665"/>
          </a:xfrm>
          <a:prstGeom prst="rect">
            <a:avLst/>
          </a:prstGeom>
          <a:noFill/>
        </p:spPr>
        <p:txBody>
          <a:bodyPr wrap="square">
            <a:spAutoFit/>
          </a:bodyPr>
          <a:lstStyle/>
          <a:p>
            <a:r>
              <a:rPr lang="en-US" sz="2400" dirty="0"/>
              <a:t>Import seaborn as </a:t>
            </a:r>
            <a:r>
              <a:rPr lang="en-US" sz="2400" dirty="0" err="1"/>
              <a:t>sns</a:t>
            </a:r>
            <a:endParaRPr lang="en-US" sz="2400" dirty="0"/>
          </a:p>
        </p:txBody>
      </p:sp>
      <p:sp>
        <p:nvSpPr>
          <p:cNvPr id="22" name="TextBox 21">
            <a:extLst>
              <a:ext uri="{FF2B5EF4-FFF2-40B4-BE49-F238E27FC236}">
                <a16:creationId xmlns:a16="http://schemas.microsoft.com/office/drawing/2014/main" id="{ED8648E9-CD6E-3C96-2968-DD694255A1C0}"/>
              </a:ext>
            </a:extLst>
          </p:cNvPr>
          <p:cNvSpPr txBox="1"/>
          <p:nvPr/>
        </p:nvSpPr>
        <p:spPr>
          <a:xfrm>
            <a:off x="4390522" y="4813877"/>
            <a:ext cx="4497445" cy="461665"/>
          </a:xfrm>
          <a:prstGeom prst="rect">
            <a:avLst/>
          </a:prstGeom>
          <a:noFill/>
        </p:spPr>
        <p:txBody>
          <a:bodyPr wrap="square">
            <a:spAutoFit/>
          </a:bodyPr>
          <a:lstStyle/>
          <a:p>
            <a:r>
              <a:rPr lang="en-US" sz="2400" dirty="0"/>
              <a:t>Import matplotlib.pyplot as </a:t>
            </a:r>
            <a:r>
              <a:rPr lang="en-US" sz="2400" dirty="0" err="1"/>
              <a:t>plt</a:t>
            </a:r>
            <a:endParaRPr lang="en-US" sz="2400" dirty="0"/>
          </a:p>
        </p:txBody>
      </p:sp>
      <p:sp>
        <p:nvSpPr>
          <p:cNvPr id="23" name="Arrow: Down 22">
            <a:extLst>
              <a:ext uri="{FF2B5EF4-FFF2-40B4-BE49-F238E27FC236}">
                <a16:creationId xmlns:a16="http://schemas.microsoft.com/office/drawing/2014/main" id="{DE2BD2DE-1531-171E-2F95-98E398511CBD}"/>
              </a:ext>
            </a:extLst>
          </p:cNvPr>
          <p:cNvSpPr/>
          <p:nvPr/>
        </p:nvSpPr>
        <p:spPr>
          <a:xfrm>
            <a:off x="6373355" y="2425106"/>
            <a:ext cx="265889" cy="499054"/>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F244771C-AA45-4925-7652-B20A1F84F528}"/>
              </a:ext>
            </a:extLst>
          </p:cNvPr>
          <p:cNvSpPr/>
          <p:nvPr/>
        </p:nvSpPr>
        <p:spPr>
          <a:xfrm>
            <a:off x="6398589" y="4242847"/>
            <a:ext cx="265889" cy="533323"/>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C4B14724-89E7-1BD1-FFBE-8D713A6DB644}"/>
              </a:ext>
            </a:extLst>
          </p:cNvPr>
          <p:cNvSpPr/>
          <p:nvPr/>
        </p:nvSpPr>
        <p:spPr>
          <a:xfrm>
            <a:off x="369455" y="1142819"/>
            <a:ext cx="3255263" cy="182205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t>Data Source: </a:t>
            </a:r>
          </a:p>
          <a:p>
            <a:pPr algn="ctr"/>
            <a:endParaRPr lang="en-US" sz="2400" dirty="0"/>
          </a:p>
          <a:p>
            <a:pPr algn="ctr"/>
            <a:r>
              <a:rPr lang="en-US" sz="2400" dirty="0"/>
              <a:t>Internal Confidential dataset </a:t>
            </a:r>
          </a:p>
        </p:txBody>
      </p:sp>
      <p:sp>
        <p:nvSpPr>
          <p:cNvPr id="26" name="Rectangle: Rounded Corners 25">
            <a:extLst>
              <a:ext uri="{FF2B5EF4-FFF2-40B4-BE49-F238E27FC236}">
                <a16:creationId xmlns:a16="http://schemas.microsoft.com/office/drawing/2014/main" id="{FC709734-10EE-8020-F21B-C63BAF207DC0}"/>
              </a:ext>
            </a:extLst>
          </p:cNvPr>
          <p:cNvSpPr/>
          <p:nvPr/>
        </p:nvSpPr>
        <p:spPr>
          <a:xfrm>
            <a:off x="369455" y="3186245"/>
            <a:ext cx="3255264" cy="321455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t>File Type: CSV</a:t>
            </a:r>
          </a:p>
          <a:p>
            <a:pPr algn="ctr"/>
            <a:endParaRPr lang="en-US" sz="2400" dirty="0"/>
          </a:p>
          <a:p>
            <a:pPr algn="ctr"/>
            <a:r>
              <a:rPr lang="en-US" sz="2400" dirty="0"/>
              <a:t>Time period: 2025</a:t>
            </a:r>
          </a:p>
          <a:p>
            <a:pPr algn="ctr"/>
            <a:endParaRPr lang="en-US" sz="2400" dirty="0"/>
          </a:p>
          <a:p>
            <a:pPr algn="ctr"/>
            <a:r>
              <a:rPr lang="en-US" sz="2400" dirty="0"/>
              <a:t>Data- Frame Shape:</a:t>
            </a:r>
          </a:p>
          <a:p>
            <a:pPr algn="ctr"/>
            <a:r>
              <a:rPr lang="en-US" sz="2400" dirty="0"/>
              <a:t># Rows: 99203</a:t>
            </a:r>
          </a:p>
          <a:p>
            <a:pPr algn="ctr"/>
            <a:r>
              <a:rPr lang="en-US" sz="2400" dirty="0"/>
              <a:t># Columns: 15 </a:t>
            </a:r>
          </a:p>
        </p:txBody>
      </p:sp>
      <p:sp>
        <p:nvSpPr>
          <p:cNvPr id="5" name="Title 1">
            <a:extLst>
              <a:ext uri="{FF2B5EF4-FFF2-40B4-BE49-F238E27FC236}">
                <a16:creationId xmlns:a16="http://schemas.microsoft.com/office/drawing/2014/main" id="{6E5D74FD-CBE0-B5E3-7C61-60DBDC210B22}"/>
              </a:ext>
            </a:extLst>
          </p:cNvPr>
          <p:cNvSpPr txBox="1">
            <a:spLocks/>
          </p:cNvSpPr>
          <p:nvPr/>
        </p:nvSpPr>
        <p:spPr>
          <a:xfrm>
            <a:off x="551904" y="160191"/>
            <a:ext cx="10942104" cy="823292"/>
          </a:xfrm>
          <a:prstGeom prst="rect">
            <a:avLst/>
          </a:prstGeom>
        </p:spPr>
        <p:txBody>
          <a:bodyPr vert="horz" lIns="91440" tIns="45720" rIns="91440" bIns="45720" rtlCol="0" anchor="t">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tx2"/>
                </a:solidFill>
              </a:rPr>
              <a:t>Methodology: Use of Python to Analyze Dataset of 2025</a:t>
            </a:r>
          </a:p>
        </p:txBody>
      </p:sp>
      <p:pic>
        <p:nvPicPr>
          <p:cNvPr id="12" name="Picture 11">
            <a:extLst>
              <a:ext uri="{FF2B5EF4-FFF2-40B4-BE49-F238E27FC236}">
                <a16:creationId xmlns:a16="http://schemas.microsoft.com/office/drawing/2014/main" id="{0681CD57-94BD-183D-A922-AA9BD2493474}"/>
              </a:ext>
            </a:extLst>
          </p:cNvPr>
          <p:cNvPicPr>
            <a:picLocks noChangeAspect="1"/>
          </p:cNvPicPr>
          <p:nvPr/>
        </p:nvPicPr>
        <p:blipFill>
          <a:blip r:embed="rId3"/>
          <a:stretch>
            <a:fillRect/>
          </a:stretch>
        </p:blipFill>
        <p:spPr>
          <a:xfrm>
            <a:off x="4390522" y="2931177"/>
            <a:ext cx="4497445" cy="431352"/>
          </a:xfrm>
          <a:prstGeom prst="rect">
            <a:avLst/>
          </a:prstGeom>
        </p:spPr>
      </p:pic>
      <p:sp>
        <p:nvSpPr>
          <p:cNvPr id="15" name="TextBox 14">
            <a:extLst>
              <a:ext uri="{FF2B5EF4-FFF2-40B4-BE49-F238E27FC236}">
                <a16:creationId xmlns:a16="http://schemas.microsoft.com/office/drawing/2014/main" id="{1BA8A082-110F-9FDF-3902-95E58F23998A}"/>
              </a:ext>
            </a:extLst>
          </p:cNvPr>
          <p:cNvSpPr txBox="1"/>
          <p:nvPr/>
        </p:nvSpPr>
        <p:spPr>
          <a:xfrm>
            <a:off x="4815180" y="2964873"/>
            <a:ext cx="3432708" cy="461665"/>
          </a:xfrm>
          <a:prstGeom prst="rect">
            <a:avLst/>
          </a:prstGeom>
          <a:noFill/>
        </p:spPr>
        <p:txBody>
          <a:bodyPr wrap="square">
            <a:spAutoFit/>
          </a:bodyPr>
          <a:lstStyle/>
          <a:p>
            <a:r>
              <a:rPr lang="en-US" sz="2400" dirty="0"/>
              <a:t>Import </a:t>
            </a:r>
            <a:r>
              <a:rPr lang="en-US" sz="2400" dirty="0" err="1"/>
              <a:t>numpy</a:t>
            </a:r>
            <a:r>
              <a:rPr lang="en-US" sz="2400" dirty="0"/>
              <a:t> as np</a:t>
            </a:r>
          </a:p>
        </p:txBody>
      </p:sp>
      <p:sp>
        <p:nvSpPr>
          <p:cNvPr id="16" name="Arrow: Down 15">
            <a:extLst>
              <a:ext uri="{FF2B5EF4-FFF2-40B4-BE49-F238E27FC236}">
                <a16:creationId xmlns:a16="http://schemas.microsoft.com/office/drawing/2014/main" id="{4DAED989-1CAB-C8CA-65B0-0D52CE681B53}"/>
              </a:ext>
            </a:extLst>
          </p:cNvPr>
          <p:cNvSpPr/>
          <p:nvPr/>
        </p:nvSpPr>
        <p:spPr>
          <a:xfrm>
            <a:off x="6398589" y="3385528"/>
            <a:ext cx="265889" cy="461665"/>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0907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8E5CE2-76BC-C1D5-D7DA-99E727159C72}"/>
              </a:ext>
            </a:extLst>
          </p:cNvPr>
          <p:cNvSpPr>
            <a:spLocks noGrp="1"/>
          </p:cNvSpPr>
          <p:nvPr>
            <p:ph type="title"/>
          </p:nvPr>
        </p:nvSpPr>
        <p:spPr>
          <a:xfrm>
            <a:off x="677334" y="609600"/>
            <a:ext cx="8596668" cy="666541"/>
          </a:xfrm>
        </p:spPr>
        <p:txBody>
          <a:bodyPr>
            <a:normAutofit fontScale="90000"/>
          </a:bodyPr>
          <a:lstStyle/>
          <a:p>
            <a:r>
              <a:rPr lang="en-US" b="1" dirty="0">
                <a:solidFill>
                  <a:schemeClr val="tx1"/>
                </a:solidFill>
              </a:rPr>
              <a:t>Definitions</a:t>
            </a:r>
            <a:br>
              <a:rPr lang="en-US" dirty="0"/>
            </a:br>
            <a:endParaRPr lang="en-US" dirty="0"/>
          </a:p>
        </p:txBody>
      </p:sp>
      <p:sp>
        <p:nvSpPr>
          <p:cNvPr id="6" name="Content Placeholder 5">
            <a:extLst>
              <a:ext uri="{FF2B5EF4-FFF2-40B4-BE49-F238E27FC236}">
                <a16:creationId xmlns:a16="http://schemas.microsoft.com/office/drawing/2014/main" id="{2F83FE9F-AB30-CB5F-6689-F63BCD1A3EEE}"/>
              </a:ext>
            </a:extLst>
          </p:cNvPr>
          <p:cNvSpPr>
            <a:spLocks noGrp="1"/>
          </p:cNvSpPr>
          <p:nvPr>
            <p:ph idx="1"/>
          </p:nvPr>
        </p:nvSpPr>
        <p:spPr>
          <a:xfrm>
            <a:off x="767769" y="1266285"/>
            <a:ext cx="8596668" cy="4702436"/>
          </a:xfrm>
        </p:spPr>
        <p:txBody>
          <a:bodyPr>
            <a:normAutofit lnSpcReduction="10000"/>
          </a:bodyPr>
          <a:lstStyle/>
          <a:p>
            <a:r>
              <a:rPr lang="en-US" b="1" dirty="0"/>
              <a:t>Clinical review: </a:t>
            </a:r>
            <a:r>
              <a:rPr lang="en-US" dirty="0">
                <a:solidFill>
                  <a:schemeClr val="accent6"/>
                </a:solidFill>
              </a:rPr>
              <a:t>A medical professional reviews a proposed treatment or medication against insurance policy's coverage guidelines before care is provided. The goal is to ensure the treatment is medically necessary and covered. </a:t>
            </a:r>
          </a:p>
          <a:p>
            <a:pPr marL="0" indent="0">
              <a:buNone/>
            </a:pPr>
            <a:endParaRPr lang="en-US" dirty="0">
              <a:solidFill>
                <a:schemeClr val="accent6"/>
              </a:solidFill>
            </a:endParaRPr>
          </a:p>
          <a:p>
            <a:r>
              <a:rPr lang="en-US" b="1" dirty="0"/>
              <a:t>Determination:</a:t>
            </a:r>
            <a:r>
              <a:rPr lang="en-US" dirty="0"/>
              <a:t> </a:t>
            </a:r>
            <a:r>
              <a:rPr lang="en-US" dirty="0">
                <a:solidFill>
                  <a:schemeClr val="accent6"/>
                </a:solidFill>
              </a:rPr>
              <a:t>The insurance company either </a:t>
            </a:r>
            <a:r>
              <a:rPr lang="en-US" b="1" dirty="0">
                <a:solidFill>
                  <a:schemeClr val="accent6"/>
                </a:solidFill>
              </a:rPr>
              <a:t>approves</a:t>
            </a:r>
            <a:r>
              <a:rPr lang="en-US" dirty="0">
                <a:solidFill>
                  <a:schemeClr val="accent6"/>
                </a:solidFill>
              </a:rPr>
              <a:t> or </a:t>
            </a:r>
            <a:r>
              <a:rPr lang="en-US" b="1" dirty="0">
                <a:solidFill>
                  <a:schemeClr val="accent6"/>
                </a:solidFill>
              </a:rPr>
              <a:t>denies</a:t>
            </a:r>
            <a:r>
              <a:rPr lang="en-US" dirty="0">
                <a:solidFill>
                  <a:schemeClr val="accent6"/>
                </a:solidFill>
              </a:rPr>
              <a:t> those request.</a:t>
            </a:r>
          </a:p>
          <a:p>
            <a:pPr marL="0" indent="0">
              <a:buNone/>
            </a:pPr>
            <a:endParaRPr lang="en-US" dirty="0">
              <a:solidFill>
                <a:schemeClr val="accent6"/>
              </a:solidFill>
            </a:endParaRPr>
          </a:p>
          <a:p>
            <a:r>
              <a:rPr lang="en-US" b="1" dirty="0">
                <a:solidFill>
                  <a:schemeClr val="tx1"/>
                </a:solidFill>
              </a:rPr>
              <a:t>Notification: </a:t>
            </a:r>
            <a:r>
              <a:rPr lang="en-US" dirty="0">
                <a:solidFill>
                  <a:schemeClr val="accent6"/>
                </a:solidFill>
              </a:rPr>
              <a:t>A formal communication (which includes verbal &amp; Written) from health insurance company to member and provider confirming that they have received, reviewed, and have approved/denied a request from your doctor for a specific medication, procedure, or medical service. With verbal notification we must make 2</a:t>
            </a:r>
            <a:r>
              <a:rPr lang="en-US" baseline="30000" dirty="0">
                <a:solidFill>
                  <a:schemeClr val="accent6"/>
                </a:solidFill>
              </a:rPr>
              <a:t>nd</a:t>
            </a:r>
            <a:r>
              <a:rPr lang="en-US" dirty="0">
                <a:solidFill>
                  <a:schemeClr val="accent6"/>
                </a:solidFill>
              </a:rPr>
              <a:t> attempt, if 1</a:t>
            </a:r>
            <a:r>
              <a:rPr lang="en-US" baseline="30000" dirty="0">
                <a:solidFill>
                  <a:schemeClr val="accent6"/>
                </a:solidFill>
              </a:rPr>
              <a:t>st</a:t>
            </a:r>
            <a:r>
              <a:rPr lang="en-US" dirty="0">
                <a:solidFill>
                  <a:schemeClr val="accent6"/>
                </a:solidFill>
              </a:rPr>
              <a:t> attempt is unsuccessful.</a:t>
            </a:r>
          </a:p>
          <a:p>
            <a:pPr marL="0" indent="0">
              <a:buNone/>
            </a:pPr>
            <a:endParaRPr lang="en-US" dirty="0">
              <a:solidFill>
                <a:schemeClr val="accent6"/>
              </a:solidFill>
            </a:endParaRPr>
          </a:p>
          <a:p>
            <a:pPr marL="0" indent="0" algn="ctr">
              <a:buNone/>
            </a:pPr>
            <a:r>
              <a:rPr lang="en-US" dirty="0">
                <a:solidFill>
                  <a:schemeClr val="accent4"/>
                </a:solidFill>
              </a:rPr>
              <a:t>*** Turn around time for these requests are 24 to 72 hours****</a:t>
            </a:r>
          </a:p>
        </p:txBody>
      </p:sp>
    </p:spTree>
    <p:extLst>
      <p:ext uri="{BB962C8B-B14F-4D97-AF65-F5344CB8AC3E}">
        <p14:creationId xmlns:p14="http://schemas.microsoft.com/office/powerpoint/2010/main" val="183220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92EAA-10E3-3994-D42B-786CC99B1793}"/>
              </a:ext>
            </a:extLst>
          </p:cNvPr>
          <p:cNvSpPr>
            <a:spLocks noGrp="1"/>
          </p:cNvSpPr>
          <p:nvPr>
            <p:ph type="title"/>
          </p:nvPr>
        </p:nvSpPr>
        <p:spPr>
          <a:xfrm>
            <a:off x="787866" y="177521"/>
            <a:ext cx="8596668" cy="756976"/>
          </a:xfrm>
        </p:spPr>
        <p:txBody>
          <a:bodyPr>
            <a:normAutofit fontScale="90000"/>
          </a:bodyPr>
          <a:lstStyle/>
          <a:p>
            <a:pPr algn="ctr"/>
            <a:r>
              <a:rPr lang="en-US" b="1" dirty="0">
                <a:solidFill>
                  <a:schemeClr val="tx1"/>
                </a:solidFill>
              </a:rPr>
              <a:t>2025 Quantitative &amp; Qualitative Metrics </a:t>
            </a:r>
          </a:p>
        </p:txBody>
      </p:sp>
      <p:graphicFrame>
        <p:nvGraphicFramePr>
          <p:cNvPr id="6" name="Content Placeholder 5">
            <a:extLst>
              <a:ext uri="{FF2B5EF4-FFF2-40B4-BE49-F238E27FC236}">
                <a16:creationId xmlns:a16="http://schemas.microsoft.com/office/drawing/2014/main" id="{DE53CF89-3579-79C6-A661-B0F5F3DD9B71}"/>
              </a:ext>
            </a:extLst>
          </p:cNvPr>
          <p:cNvGraphicFramePr>
            <a:graphicFrameLocks noGrp="1"/>
          </p:cNvGraphicFramePr>
          <p:nvPr>
            <p:ph sz="half" idx="1"/>
            <p:extLst>
              <p:ext uri="{D42A27DB-BD31-4B8C-83A1-F6EECF244321}">
                <p14:modId xmlns:p14="http://schemas.microsoft.com/office/powerpoint/2010/main" val="374559183"/>
              </p:ext>
            </p:extLst>
          </p:nvPr>
        </p:nvGraphicFramePr>
        <p:xfrm>
          <a:off x="1242705" y="2733345"/>
          <a:ext cx="7686989" cy="3838278"/>
        </p:xfrm>
        <a:graphic>
          <a:graphicData uri="http://schemas.openxmlformats.org/drawingml/2006/chart">
            <c:chart xmlns:c="http://schemas.openxmlformats.org/drawingml/2006/chart" xmlns:r="http://schemas.openxmlformats.org/officeDocument/2006/relationships" r:id="rId3"/>
          </a:graphicData>
        </a:graphic>
      </p:graphicFrame>
      <p:sp>
        <p:nvSpPr>
          <p:cNvPr id="8" name="Content Placeholder 7">
            <a:extLst>
              <a:ext uri="{FF2B5EF4-FFF2-40B4-BE49-F238E27FC236}">
                <a16:creationId xmlns:a16="http://schemas.microsoft.com/office/drawing/2014/main" id="{938830DD-317E-FFEF-9962-A20ABB0108DF}"/>
              </a:ext>
            </a:extLst>
          </p:cNvPr>
          <p:cNvSpPr>
            <a:spLocks noGrp="1"/>
          </p:cNvSpPr>
          <p:nvPr>
            <p:ph sz="half" idx="2"/>
          </p:nvPr>
        </p:nvSpPr>
        <p:spPr>
          <a:xfrm>
            <a:off x="1271597" y="914401"/>
            <a:ext cx="8274338" cy="1607735"/>
          </a:xfrm>
        </p:spPr>
        <p:txBody>
          <a:bodyPr>
            <a:normAutofit/>
          </a:bodyPr>
          <a:lstStyle/>
          <a:p>
            <a:pPr>
              <a:buFont typeface="Wingdings" panose="05000000000000000000" pitchFamily="2" charset="2"/>
              <a:buChar char="v"/>
            </a:pPr>
            <a:r>
              <a:rPr lang="en-US" dirty="0">
                <a:solidFill>
                  <a:schemeClr val="accent6"/>
                </a:solidFill>
              </a:rPr>
              <a:t>Compare task completion volume &amp; quality trends between team members</a:t>
            </a:r>
          </a:p>
          <a:p>
            <a:pPr marL="0" indent="0" algn="ctr">
              <a:buNone/>
            </a:pPr>
            <a:r>
              <a:rPr lang="en-US" b="1" u="sng" dirty="0">
                <a:solidFill>
                  <a:schemeClr val="accent6"/>
                </a:solidFill>
              </a:rPr>
              <a:t>Tenure</a:t>
            </a:r>
            <a:endParaRPr lang="en-US" dirty="0">
              <a:solidFill>
                <a:schemeClr val="accent6"/>
              </a:solidFill>
            </a:endParaRPr>
          </a:p>
          <a:p>
            <a:pPr>
              <a:buFont typeface="Wingdings" panose="05000000000000000000" pitchFamily="2" charset="2"/>
              <a:buChar char="v"/>
            </a:pPr>
            <a:r>
              <a:rPr lang="en-US" dirty="0">
                <a:solidFill>
                  <a:schemeClr val="accent6"/>
                </a:solidFill>
              </a:rPr>
              <a:t>Top performers – employee for 0-2 years</a:t>
            </a:r>
          </a:p>
          <a:p>
            <a:pPr>
              <a:buFont typeface="Wingdings" panose="05000000000000000000" pitchFamily="2" charset="2"/>
              <a:buChar char="v"/>
            </a:pPr>
            <a:r>
              <a:rPr lang="en-US" dirty="0">
                <a:solidFill>
                  <a:schemeClr val="accent6"/>
                </a:solidFill>
              </a:rPr>
              <a:t>Under/average performers – employee for 5+ years</a:t>
            </a:r>
          </a:p>
          <a:p>
            <a:pPr marL="0" indent="0">
              <a:buNone/>
            </a:pPr>
            <a:endParaRPr lang="en-US" dirty="0">
              <a:solidFill>
                <a:schemeClr val="accent6"/>
              </a:solidFill>
            </a:endParaRPr>
          </a:p>
        </p:txBody>
      </p:sp>
    </p:spTree>
    <p:extLst>
      <p:ext uri="{BB962C8B-B14F-4D97-AF65-F5344CB8AC3E}">
        <p14:creationId xmlns:p14="http://schemas.microsoft.com/office/powerpoint/2010/main" val="2821780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DF4D4-78BC-226D-A865-E72D96CC703D}"/>
              </a:ext>
            </a:extLst>
          </p:cNvPr>
          <p:cNvSpPr>
            <a:spLocks noGrp="1"/>
          </p:cNvSpPr>
          <p:nvPr>
            <p:ph type="title"/>
          </p:nvPr>
        </p:nvSpPr>
        <p:spPr>
          <a:xfrm>
            <a:off x="741342" y="509016"/>
            <a:ext cx="8596668" cy="954024"/>
          </a:xfrm>
        </p:spPr>
        <p:txBody>
          <a:bodyPr>
            <a:normAutofit/>
          </a:bodyPr>
          <a:lstStyle/>
          <a:p>
            <a:pPr>
              <a:lnSpc>
                <a:spcPct val="150000"/>
              </a:lnSpc>
            </a:pPr>
            <a:r>
              <a:rPr lang="en-US" sz="4000" dirty="0">
                <a:solidFill>
                  <a:schemeClr val="tx2"/>
                </a:solidFill>
              </a:rPr>
              <a:t>Objectives</a:t>
            </a:r>
          </a:p>
        </p:txBody>
      </p:sp>
      <p:sp>
        <p:nvSpPr>
          <p:cNvPr id="3" name="Content Placeholder 2">
            <a:extLst>
              <a:ext uri="{FF2B5EF4-FFF2-40B4-BE49-F238E27FC236}">
                <a16:creationId xmlns:a16="http://schemas.microsoft.com/office/drawing/2014/main" id="{2570923E-A242-B85C-5AC3-CA07090B619D}"/>
              </a:ext>
            </a:extLst>
          </p:cNvPr>
          <p:cNvSpPr>
            <a:spLocks noGrp="1"/>
          </p:cNvSpPr>
          <p:nvPr>
            <p:ph idx="1"/>
          </p:nvPr>
        </p:nvSpPr>
        <p:spPr>
          <a:xfrm>
            <a:off x="775205" y="1657669"/>
            <a:ext cx="8596668" cy="3880773"/>
          </a:xfrm>
        </p:spPr>
        <p:txBody>
          <a:bodyPr>
            <a:normAutofit lnSpcReduction="10000"/>
          </a:bodyPr>
          <a:lstStyle/>
          <a:p>
            <a:pPr marL="0" indent="0">
              <a:lnSpc>
                <a:spcPct val="150000"/>
              </a:lnSpc>
              <a:buNone/>
            </a:pPr>
            <a:r>
              <a:rPr lang="en-US" dirty="0">
                <a:solidFill>
                  <a:schemeClr val="tx2"/>
                </a:solidFill>
              </a:rPr>
              <a:t>The Purpose of this project is to analyze the data to identify the productivity trends within the remote team, specifically:</a:t>
            </a:r>
          </a:p>
          <a:p>
            <a:pPr>
              <a:lnSpc>
                <a:spcPct val="150000"/>
              </a:lnSpc>
              <a:buFont typeface="Wingdings" panose="05000000000000000000" pitchFamily="2" charset="2"/>
              <a:buChar char="Ø"/>
            </a:pPr>
            <a:r>
              <a:rPr lang="en-US" dirty="0">
                <a:solidFill>
                  <a:schemeClr val="tx2"/>
                </a:solidFill>
              </a:rPr>
              <a:t>Identify average time utilized to complete each task</a:t>
            </a:r>
          </a:p>
          <a:p>
            <a:pPr>
              <a:lnSpc>
                <a:spcPct val="150000"/>
              </a:lnSpc>
              <a:buFont typeface="Wingdings" panose="05000000000000000000" pitchFamily="2" charset="2"/>
              <a:buChar char="Ø"/>
            </a:pPr>
            <a:r>
              <a:rPr lang="en-US" dirty="0">
                <a:solidFill>
                  <a:schemeClr val="tx2"/>
                </a:solidFill>
              </a:rPr>
              <a:t>Average time utilized to complete core tasks</a:t>
            </a:r>
          </a:p>
          <a:p>
            <a:pPr>
              <a:lnSpc>
                <a:spcPct val="150000"/>
              </a:lnSpc>
              <a:buFont typeface="Wingdings" panose="05000000000000000000" pitchFamily="2" charset="2"/>
              <a:buChar char="Ø"/>
            </a:pPr>
            <a:r>
              <a:rPr lang="en-US" dirty="0">
                <a:solidFill>
                  <a:schemeClr val="tx2"/>
                </a:solidFill>
              </a:rPr>
              <a:t>Average total # of tasks completed by team members on daily as well as monthly basis</a:t>
            </a:r>
          </a:p>
          <a:p>
            <a:pPr>
              <a:lnSpc>
                <a:spcPct val="150000"/>
              </a:lnSpc>
              <a:buFont typeface="Wingdings" panose="05000000000000000000" pitchFamily="2" charset="2"/>
              <a:buChar char="Ø"/>
            </a:pPr>
            <a:r>
              <a:rPr lang="en-US" dirty="0">
                <a:solidFill>
                  <a:schemeClr val="tx2"/>
                </a:solidFill>
              </a:rPr>
              <a:t>Determine factors influencing higher number of tasks not completed </a:t>
            </a:r>
          </a:p>
          <a:p>
            <a:pPr>
              <a:lnSpc>
                <a:spcPct val="150000"/>
              </a:lnSpc>
              <a:buFont typeface="Wingdings" panose="05000000000000000000" pitchFamily="2" charset="2"/>
              <a:buChar char="Ø"/>
            </a:pPr>
            <a:r>
              <a:rPr lang="en-US" dirty="0">
                <a:solidFill>
                  <a:schemeClr val="tx2"/>
                </a:solidFill>
              </a:rPr>
              <a:t>Identify areas of opportunity to increase productivity</a:t>
            </a:r>
          </a:p>
        </p:txBody>
      </p:sp>
    </p:spTree>
    <p:extLst>
      <p:ext uri="{BB962C8B-B14F-4D97-AF65-F5344CB8AC3E}">
        <p14:creationId xmlns:p14="http://schemas.microsoft.com/office/powerpoint/2010/main" val="3193306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DBC6C9-F565-A2E6-FDDD-2C9A358FAF39}"/>
              </a:ext>
            </a:extLst>
          </p:cNvPr>
          <p:cNvSpPr>
            <a:spLocks noGrp="1"/>
          </p:cNvSpPr>
          <p:nvPr>
            <p:ph type="title"/>
          </p:nvPr>
        </p:nvSpPr>
        <p:spPr>
          <a:xfrm>
            <a:off x="570130" y="610467"/>
            <a:ext cx="8930486" cy="734568"/>
          </a:xfrm>
        </p:spPr>
        <p:txBody>
          <a:bodyPr>
            <a:normAutofit fontScale="90000"/>
          </a:bodyPr>
          <a:lstStyle/>
          <a:p>
            <a:pPr algn="ctr"/>
            <a:r>
              <a:rPr lang="en-US" sz="3100" dirty="0">
                <a:solidFill>
                  <a:schemeClr val="tx2"/>
                </a:solidFill>
              </a:rPr>
              <a:t>Overall Average Time Utilized to Complete a Task</a:t>
            </a:r>
            <a:br>
              <a:rPr lang="en-US" dirty="0">
                <a:solidFill>
                  <a:schemeClr val="tx2"/>
                </a:solidFill>
              </a:rPr>
            </a:br>
            <a:endParaRPr lang="en-US" dirty="0"/>
          </a:p>
        </p:txBody>
      </p:sp>
      <p:graphicFrame>
        <p:nvGraphicFramePr>
          <p:cNvPr id="8" name="Content Placeholder 7">
            <a:extLst>
              <a:ext uri="{FF2B5EF4-FFF2-40B4-BE49-F238E27FC236}">
                <a16:creationId xmlns:a16="http://schemas.microsoft.com/office/drawing/2014/main" id="{165DD846-5B20-8714-D352-55C923C887D3}"/>
              </a:ext>
            </a:extLst>
          </p:cNvPr>
          <p:cNvGraphicFramePr>
            <a:graphicFrameLocks noGrp="1"/>
          </p:cNvGraphicFramePr>
          <p:nvPr>
            <p:ph sz="half" idx="2"/>
            <p:extLst>
              <p:ext uri="{D42A27DB-BD31-4B8C-83A1-F6EECF244321}">
                <p14:modId xmlns:p14="http://schemas.microsoft.com/office/powerpoint/2010/main" val="3482232892"/>
              </p:ext>
            </p:extLst>
          </p:nvPr>
        </p:nvGraphicFramePr>
        <p:xfrm>
          <a:off x="491051" y="1622160"/>
          <a:ext cx="4073590" cy="2921885"/>
        </p:xfrm>
        <a:graphic>
          <a:graphicData uri="http://schemas.openxmlformats.org/drawingml/2006/table">
            <a:tbl>
              <a:tblPr firstRow="1" bandRow="1">
                <a:tableStyleId>{073A0DAA-6AF3-43AB-8588-CEC1D06C72B9}</a:tableStyleId>
              </a:tblPr>
              <a:tblGrid>
                <a:gridCol w="1360625">
                  <a:extLst>
                    <a:ext uri="{9D8B030D-6E8A-4147-A177-3AD203B41FA5}">
                      <a16:colId xmlns:a16="http://schemas.microsoft.com/office/drawing/2014/main" val="1713838156"/>
                    </a:ext>
                  </a:extLst>
                </a:gridCol>
                <a:gridCol w="2712965">
                  <a:extLst>
                    <a:ext uri="{9D8B030D-6E8A-4147-A177-3AD203B41FA5}">
                      <a16:colId xmlns:a16="http://schemas.microsoft.com/office/drawing/2014/main" val="3839959056"/>
                    </a:ext>
                  </a:extLst>
                </a:gridCol>
              </a:tblGrid>
              <a:tr h="751310">
                <a:tc>
                  <a:txBody>
                    <a:bodyPr/>
                    <a:lstStyle/>
                    <a:p>
                      <a:r>
                        <a:rPr lang="en-US" dirty="0"/>
                        <a:t>Username</a:t>
                      </a:r>
                    </a:p>
                  </a:txBody>
                  <a:tcPr>
                    <a:solidFill>
                      <a:schemeClr val="tx1">
                        <a:lumMod val="50000"/>
                        <a:lumOff val="50000"/>
                      </a:schemeClr>
                    </a:solidFill>
                  </a:tcPr>
                </a:tc>
                <a:tc>
                  <a:txBody>
                    <a:bodyPr/>
                    <a:lstStyle/>
                    <a:p>
                      <a:r>
                        <a:rPr lang="en-US" sz="1800" b="0" kern="1200" dirty="0">
                          <a:solidFill>
                            <a:schemeClr val="lt1"/>
                          </a:solidFill>
                          <a:effectLst/>
                        </a:rPr>
                        <a:t>Average # of Minutes to Complete a Task</a:t>
                      </a:r>
                      <a:endParaRPr lang="en-US" dirty="0"/>
                    </a:p>
                  </a:txBody>
                  <a:tcPr>
                    <a:solidFill>
                      <a:schemeClr val="tx1">
                        <a:lumMod val="50000"/>
                        <a:lumOff val="50000"/>
                      </a:schemeClr>
                    </a:solidFill>
                  </a:tcPr>
                </a:tc>
                <a:extLst>
                  <a:ext uri="{0D108BD9-81ED-4DB2-BD59-A6C34878D82A}">
                    <a16:rowId xmlns:a16="http://schemas.microsoft.com/office/drawing/2014/main" val="1498471883"/>
                  </a:ext>
                </a:extLst>
              </a:tr>
              <a:tr h="434115">
                <a:tc>
                  <a:txBody>
                    <a:bodyPr/>
                    <a:lstStyle/>
                    <a:p>
                      <a:r>
                        <a:rPr lang="en-US" dirty="0"/>
                        <a:t>Esha </a:t>
                      </a:r>
                    </a:p>
                  </a:txBody>
                  <a:tcPr>
                    <a:solidFill>
                      <a:schemeClr val="bg1">
                        <a:lumMod val="85000"/>
                      </a:schemeClr>
                    </a:solidFill>
                  </a:tcPr>
                </a:tc>
                <a:tc>
                  <a:txBody>
                    <a:bodyPr/>
                    <a:lstStyle/>
                    <a:p>
                      <a:r>
                        <a:rPr lang="en-US" dirty="0"/>
                        <a:t>518</a:t>
                      </a:r>
                    </a:p>
                  </a:txBody>
                  <a:tcPr>
                    <a:solidFill>
                      <a:schemeClr val="bg1">
                        <a:lumMod val="85000"/>
                      </a:schemeClr>
                    </a:solidFill>
                  </a:tcPr>
                </a:tc>
                <a:extLst>
                  <a:ext uri="{0D108BD9-81ED-4DB2-BD59-A6C34878D82A}">
                    <a16:rowId xmlns:a16="http://schemas.microsoft.com/office/drawing/2014/main" val="2315730189"/>
                  </a:ext>
                </a:extLst>
              </a:tr>
              <a:tr h="434115">
                <a:tc>
                  <a:txBody>
                    <a:bodyPr/>
                    <a:lstStyle/>
                    <a:p>
                      <a:r>
                        <a:rPr lang="en-US" dirty="0"/>
                        <a:t>Ethan </a:t>
                      </a:r>
                    </a:p>
                  </a:txBody>
                  <a:tcPr>
                    <a:solidFill>
                      <a:schemeClr val="bg1">
                        <a:lumMod val="85000"/>
                      </a:schemeClr>
                    </a:solidFill>
                  </a:tcPr>
                </a:tc>
                <a:tc>
                  <a:txBody>
                    <a:bodyPr/>
                    <a:lstStyle/>
                    <a:p>
                      <a:r>
                        <a:rPr lang="en-US" dirty="0"/>
                        <a:t>822</a:t>
                      </a:r>
                    </a:p>
                  </a:txBody>
                  <a:tcPr>
                    <a:solidFill>
                      <a:schemeClr val="bg1">
                        <a:lumMod val="85000"/>
                      </a:schemeClr>
                    </a:solidFill>
                  </a:tcPr>
                </a:tc>
                <a:extLst>
                  <a:ext uri="{0D108BD9-81ED-4DB2-BD59-A6C34878D82A}">
                    <a16:rowId xmlns:a16="http://schemas.microsoft.com/office/drawing/2014/main" val="1424467562"/>
                  </a:ext>
                </a:extLst>
              </a:tr>
              <a:tr h="434115">
                <a:tc>
                  <a:txBody>
                    <a:bodyPr/>
                    <a:lstStyle/>
                    <a:p>
                      <a:r>
                        <a:rPr lang="en-US" sz="1800" b="0" kern="1200" dirty="0">
                          <a:solidFill>
                            <a:schemeClr val="dk1"/>
                          </a:solidFill>
                          <a:effectLst/>
                        </a:rPr>
                        <a:t>Harish </a:t>
                      </a:r>
                      <a:endParaRPr lang="en-US" dirty="0"/>
                    </a:p>
                  </a:txBody>
                  <a:tcPr>
                    <a:solidFill>
                      <a:schemeClr val="bg1">
                        <a:lumMod val="85000"/>
                      </a:schemeClr>
                    </a:solidFill>
                  </a:tcPr>
                </a:tc>
                <a:tc>
                  <a:txBody>
                    <a:bodyPr/>
                    <a:lstStyle/>
                    <a:p>
                      <a:r>
                        <a:rPr lang="en-US" dirty="0"/>
                        <a:t>751</a:t>
                      </a:r>
                    </a:p>
                  </a:txBody>
                  <a:tcPr>
                    <a:solidFill>
                      <a:schemeClr val="bg1">
                        <a:lumMod val="85000"/>
                      </a:schemeClr>
                    </a:solidFill>
                  </a:tcPr>
                </a:tc>
                <a:extLst>
                  <a:ext uri="{0D108BD9-81ED-4DB2-BD59-A6C34878D82A}">
                    <a16:rowId xmlns:a16="http://schemas.microsoft.com/office/drawing/2014/main" val="3798858547"/>
                  </a:ext>
                </a:extLst>
              </a:tr>
              <a:tr h="434115">
                <a:tc>
                  <a:txBody>
                    <a:bodyPr/>
                    <a:lstStyle/>
                    <a:p>
                      <a:r>
                        <a:rPr lang="en-US" sz="1800" b="0" kern="1200" dirty="0">
                          <a:solidFill>
                            <a:schemeClr val="dk1"/>
                          </a:solidFill>
                          <a:effectLst/>
                        </a:rPr>
                        <a:t>Irene </a:t>
                      </a:r>
                      <a:endParaRPr lang="en-US" dirty="0"/>
                    </a:p>
                  </a:txBody>
                  <a:tcPr>
                    <a:solidFill>
                      <a:schemeClr val="bg1">
                        <a:lumMod val="85000"/>
                      </a:schemeClr>
                    </a:solidFill>
                  </a:tcPr>
                </a:tc>
                <a:tc>
                  <a:txBody>
                    <a:bodyPr/>
                    <a:lstStyle/>
                    <a:p>
                      <a:r>
                        <a:rPr lang="en-US" dirty="0"/>
                        <a:t>746</a:t>
                      </a:r>
                    </a:p>
                  </a:txBody>
                  <a:tcPr>
                    <a:solidFill>
                      <a:schemeClr val="bg1">
                        <a:lumMod val="85000"/>
                      </a:schemeClr>
                    </a:solidFill>
                  </a:tcPr>
                </a:tc>
                <a:extLst>
                  <a:ext uri="{0D108BD9-81ED-4DB2-BD59-A6C34878D82A}">
                    <a16:rowId xmlns:a16="http://schemas.microsoft.com/office/drawing/2014/main" val="3402225857"/>
                  </a:ext>
                </a:extLst>
              </a:tr>
              <a:tr h="434115">
                <a:tc>
                  <a:txBody>
                    <a:bodyPr/>
                    <a:lstStyle/>
                    <a:p>
                      <a:r>
                        <a:rPr lang="en-US" dirty="0"/>
                        <a:t>Kavita </a:t>
                      </a:r>
                    </a:p>
                  </a:txBody>
                  <a:tcPr>
                    <a:solidFill>
                      <a:schemeClr val="bg1">
                        <a:lumMod val="85000"/>
                      </a:schemeClr>
                    </a:solidFill>
                  </a:tcPr>
                </a:tc>
                <a:tc>
                  <a:txBody>
                    <a:bodyPr/>
                    <a:lstStyle/>
                    <a:p>
                      <a:r>
                        <a:rPr lang="en-US" dirty="0"/>
                        <a:t>591</a:t>
                      </a:r>
                    </a:p>
                  </a:txBody>
                  <a:tcPr>
                    <a:solidFill>
                      <a:schemeClr val="bg1">
                        <a:lumMod val="85000"/>
                      </a:schemeClr>
                    </a:solidFill>
                  </a:tcPr>
                </a:tc>
                <a:extLst>
                  <a:ext uri="{0D108BD9-81ED-4DB2-BD59-A6C34878D82A}">
                    <a16:rowId xmlns:a16="http://schemas.microsoft.com/office/drawing/2014/main" val="4153394359"/>
                  </a:ext>
                </a:extLst>
              </a:tr>
            </a:tbl>
          </a:graphicData>
        </a:graphic>
      </p:graphicFrame>
      <p:pic>
        <p:nvPicPr>
          <p:cNvPr id="10" name="Picture 9">
            <a:extLst>
              <a:ext uri="{FF2B5EF4-FFF2-40B4-BE49-F238E27FC236}">
                <a16:creationId xmlns:a16="http://schemas.microsoft.com/office/drawing/2014/main" id="{744B6993-F4C1-6C1D-5390-92EEBFABD35B}"/>
              </a:ext>
            </a:extLst>
          </p:cNvPr>
          <p:cNvPicPr>
            <a:picLocks noChangeAspect="1"/>
          </p:cNvPicPr>
          <p:nvPr/>
        </p:nvPicPr>
        <p:blipFill>
          <a:blip r:embed="rId3"/>
          <a:stretch>
            <a:fillRect/>
          </a:stretch>
        </p:blipFill>
        <p:spPr>
          <a:xfrm>
            <a:off x="5133135" y="1587926"/>
            <a:ext cx="4073590" cy="3119209"/>
          </a:xfrm>
          <a:prstGeom prst="rect">
            <a:avLst/>
          </a:prstGeom>
        </p:spPr>
      </p:pic>
      <p:sp>
        <p:nvSpPr>
          <p:cNvPr id="16" name="TextBox 15">
            <a:extLst>
              <a:ext uri="{FF2B5EF4-FFF2-40B4-BE49-F238E27FC236}">
                <a16:creationId xmlns:a16="http://schemas.microsoft.com/office/drawing/2014/main" id="{AF5F2ED0-AC31-5301-017A-D5EB95227D81}"/>
              </a:ext>
            </a:extLst>
          </p:cNvPr>
          <p:cNvSpPr txBox="1"/>
          <p:nvPr/>
        </p:nvSpPr>
        <p:spPr>
          <a:xfrm rot="16200000">
            <a:off x="4001400" y="2917334"/>
            <a:ext cx="1879156" cy="215444"/>
          </a:xfrm>
          <a:prstGeom prst="rect">
            <a:avLst/>
          </a:prstGeom>
          <a:noFill/>
          <a:ln>
            <a:solidFill>
              <a:schemeClr val="tx1"/>
            </a:solidFill>
          </a:ln>
        </p:spPr>
        <p:txBody>
          <a:bodyPr wrap="square">
            <a:spAutoFit/>
          </a:bodyPr>
          <a:lstStyle/>
          <a:p>
            <a:r>
              <a:rPr lang="en-US" sz="800" b="0" kern="1200" dirty="0">
                <a:effectLst/>
              </a:rPr>
              <a:t>Average Minutes to _complete task</a:t>
            </a:r>
          </a:p>
        </p:txBody>
      </p:sp>
      <p:sp>
        <p:nvSpPr>
          <p:cNvPr id="17" name="Rectangle: Rounded Corners 16">
            <a:extLst>
              <a:ext uri="{FF2B5EF4-FFF2-40B4-BE49-F238E27FC236}">
                <a16:creationId xmlns:a16="http://schemas.microsoft.com/office/drawing/2014/main" id="{9BBB62CD-3E52-60CD-BB75-72950C5017AB}"/>
              </a:ext>
            </a:extLst>
          </p:cNvPr>
          <p:cNvSpPr/>
          <p:nvPr/>
        </p:nvSpPr>
        <p:spPr>
          <a:xfrm>
            <a:off x="491051" y="2863780"/>
            <a:ext cx="2402874" cy="1154695"/>
          </a:xfrm>
          <a:prstGeom prst="roundRect">
            <a:avLst/>
          </a:prstGeom>
          <a:noFill/>
          <a:ln w="38100">
            <a:solidFill>
              <a:schemeClr val="accent5"/>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Star: 5 Points 19">
            <a:extLst>
              <a:ext uri="{FF2B5EF4-FFF2-40B4-BE49-F238E27FC236}">
                <a16:creationId xmlns:a16="http://schemas.microsoft.com/office/drawing/2014/main" id="{5C35A8C7-AD5B-7058-11AC-4B88D3A227C9}"/>
              </a:ext>
            </a:extLst>
          </p:cNvPr>
          <p:cNvSpPr/>
          <p:nvPr/>
        </p:nvSpPr>
        <p:spPr>
          <a:xfrm>
            <a:off x="5337364" y="4088814"/>
            <a:ext cx="426720" cy="4778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tar: 5 Points 20">
            <a:extLst>
              <a:ext uri="{FF2B5EF4-FFF2-40B4-BE49-F238E27FC236}">
                <a16:creationId xmlns:a16="http://schemas.microsoft.com/office/drawing/2014/main" id="{9B95B623-A807-B2C3-4B56-F6A4338F54B4}"/>
              </a:ext>
            </a:extLst>
          </p:cNvPr>
          <p:cNvSpPr/>
          <p:nvPr/>
        </p:nvSpPr>
        <p:spPr>
          <a:xfrm>
            <a:off x="8291423" y="4113350"/>
            <a:ext cx="426720" cy="4778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ED02FB19-DE4B-3CB3-3147-37BFD6491E30}"/>
              </a:ext>
            </a:extLst>
          </p:cNvPr>
          <p:cNvSpPr txBox="1">
            <a:spLocks/>
          </p:cNvSpPr>
          <p:nvPr/>
        </p:nvSpPr>
        <p:spPr>
          <a:xfrm>
            <a:off x="449032" y="5094514"/>
            <a:ext cx="9368207" cy="1014884"/>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ctr">
              <a:buFont typeface="Wingdings" panose="05000000000000000000" pitchFamily="2" charset="2"/>
              <a:buChar char="Ø"/>
            </a:pPr>
            <a:r>
              <a:rPr lang="en-US" sz="2000" dirty="0">
                <a:solidFill>
                  <a:srgbClr val="7030A0"/>
                </a:solidFill>
              </a:rPr>
              <a:t>Average time to complete a task was 685 mins</a:t>
            </a:r>
          </a:p>
          <a:p>
            <a:pPr marL="285750" indent="-285750" algn="ctr">
              <a:buFont typeface="Wingdings" panose="05000000000000000000" pitchFamily="2" charset="2"/>
              <a:buChar char="Ø"/>
            </a:pPr>
            <a:r>
              <a:rPr lang="en-US" sz="2000" dirty="0"/>
              <a:t>Esha &amp; Kavita task completion was within 75 to 85 % of the average time</a:t>
            </a:r>
          </a:p>
          <a:p>
            <a:pPr marL="285750" indent="-285750" algn="ctr">
              <a:buFont typeface="Wingdings" panose="05000000000000000000" pitchFamily="2" charset="2"/>
              <a:buChar char="Ø"/>
            </a:pPr>
            <a:r>
              <a:rPr lang="en-US" sz="2000" dirty="0">
                <a:solidFill>
                  <a:schemeClr val="accent5"/>
                </a:solidFill>
              </a:rPr>
              <a:t>Irene, Harish &amp; Ethan task completion was within 110 to 120 % of average time</a:t>
            </a:r>
          </a:p>
        </p:txBody>
      </p:sp>
    </p:spTree>
    <p:extLst>
      <p:ext uri="{BB962C8B-B14F-4D97-AF65-F5344CB8AC3E}">
        <p14:creationId xmlns:p14="http://schemas.microsoft.com/office/powerpoint/2010/main" val="3421738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09949-222E-7352-D6D6-2EE6848624E9}"/>
              </a:ext>
            </a:extLst>
          </p:cNvPr>
          <p:cNvSpPr>
            <a:spLocks noGrp="1"/>
          </p:cNvSpPr>
          <p:nvPr>
            <p:ph type="title"/>
          </p:nvPr>
        </p:nvSpPr>
        <p:spPr>
          <a:xfrm>
            <a:off x="677334" y="609600"/>
            <a:ext cx="9716346" cy="676589"/>
          </a:xfrm>
        </p:spPr>
        <p:txBody>
          <a:bodyPr>
            <a:normAutofit/>
          </a:bodyPr>
          <a:lstStyle/>
          <a:p>
            <a:pPr algn="ctr"/>
            <a:r>
              <a:rPr lang="en-US" sz="3200" dirty="0">
                <a:solidFill>
                  <a:schemeClr val="tx1"/>
                </a:solidFill>
              </a:rPr>
              <a:t>Average Time Utilized to Complete Core Tasks</a:t>
            </a:r>
          </a:p>
        </p:txBody>
      </p:sp>
      <p:pic>
        <p:nvPicPr>
          <p:cNvPr id="7170" name="Picture 2">
            <a:extLst>
              <a:ext uri="{FF2B5EF4-FFF2-40B4-BE49-F238E27FC236}">
                <a16:creationId xmlns:a16="http://schemas.microsoft.com/office/drawing/2014/main" id="{4EB30900-362C-CA1B-8C72-7A51C0F3547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6059157" y="1708220"/>
            <a:ext cx="5868236" cy="424040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E2675966-AE77-BA8D-FF66-D5ABF3A445E7}"/>
              </a:ext>
            </a:extLst>
          </p:cNvPr>
          <p:cNvSpPr>
            <a:spLocks noGrp="1"/>
          </p:cNvSpPr>
          <p:nvPr>
            <p:ph sz="half" idx="2"/>
          </p:nvPr>
        </p:nvSpPr>
        <p:spPr>
          <a:xfrm>
            <a:off x="100484" y="1708220"/>
            <a:ext cx="6169687" cy="4081933"/>
          </a:xfrm>
        </p:spPr>
        <p:txBody>
          <a:bodyPr>
            <a:normAutofit fontScale="92500" lnSpcReduction="10000"/>
          </a:bodyPr>
          <a:lstStyle/>
          <a:p>
            <a:pPr marL="285750" indent="-285750">
              <a:buFont typeface="Wingdings" panose="05000000000000000000" pitchFamily="2" charset="2"/>
              <a:buChar char="Ø"/>
            </a:pPr>
            <a:r>
              <a:rPr lang="en-US" dirty="0">
                <a:solidFill>
                  <a:srgbClr val="7030A0"/>
                </a:solidFill>
              </a:rPr>
              <a:t>Average time to complete Notification Task was 462 mins</a:t>
            </a:r>
          </a:p>
          <a:p>
            <a:pPr marL="285750" indent="-285750" algn="ctr">
              <a:buFont typeface="Wingdings" panose="05000000000000000000" pitchFamily="2" charset="2"/>
              <a:buChar char="Ø"/>
            </a:pPr>
            <a:endParaRPr lang="en-US" dirty="0">
              <a:solidFill>
                <a:schemeClr val="accent6"/>
              </a:solidFill>
            </a:endParaRPr>
          </a:p>
          <a:p>
            <a:pPr algn="ctr">
              <a:buFont typeface="Courier New" panose="02070309020205020404" pitchFamily="49" charset="0"/>
              <a:buChar char="o"/>
            </a:pPr>
            <a:r>
              <a:rPr lang="en-US" dirty="0">
                <a:solidFill>
                  <a:schemeClr val="accent2"/>
                </a:solidFill>
              </a:rPr>
              <a:t>Esha &amp; Kavita - 75 to 85 % of average time</a:t>
            </a:r>
          </a:p>
          <a:p>
            <a:pPr algn="ctr">
              <a:buFont typeface="Courier New" panose="02070309020205020404" pitchFamily="49" charset="0"/>
              <a:buChar char="o"/>
            </a:pPr>
            <a:r>
              <a:rPr lang="en-US" dirty="0">
                <a:solidFill>
                  <a:schemeClr val="accent3"/>
                </a:solidFill>
              </a:rPr>
              <a:t>Ethan &amp; Irene – little over but close to average time</a:t>
            </a:r>
          </a:p>
          <a:p>
            <a:pPr algn="ctr">
              <a:buFont typeface="Courier New" panose="02070309020205020404" pitchFamily="49" charset="0"/>
              <a:buChar char="o"/>
            </a:pPr>
            <a:r>
              <a:rPr lang="en-US" dirty="0">
                <a:solidFill>
                  <a:schemeClr val="accent5"/>
                </a:solidFill>
              </a:rPr>
              <a:t>Harish – 110 % of average time</a:t>
            </a:r>
          </a:p>
          <a:p>
            <a:pPr algn="ctr">
              <a:buFont typeface="Courier New" panose="02070309020205020404" pitchFamily="49" charset="0"/>
              <a:buChar char="o"/>
            </a:pPr>
            <a:endParaRPr lang="en-US" dirty="0">
              <a:solidFill>
                <a:schemeClr val="accent6"/>
              </a:solidFill>
            </a:endParaRPr>
          </a:p>
          <a:p>
            <a:pPr marL="285750" indent="-285750">
              <a:buFont typeface="Wingdings" panose="05000000000000000000" pitchFamily="2" charset="2"/>
              <a:buChar char="Ø"/>
            </a:pPr>
            <a:r>
              <a:rPr lang="en-US" dirty="0">
                <a:solidFill>
                  <a:srgbClr val="7030A0"/>
                </a:solidFill>
              </a:rPr>
              <a:t>Average time to complete Clinical Review Task was 577 mins</a:t>
            </a:r>
          </a:p>
          <a:p>
            <a:pPr algn="ctr">
              <a:buFont typeface="Courier New" panose="02070309020205020404" pitchFamily="49" charset="0"/>
              <a:buChar char="o"/>
            </a:pPr>
            <a:r>
              <a:rPr lang="en-US" dirty="0">
                <a:solidFill>
                  <a:schemeClr val="accent2"/>
                </a:solidFill>
              </a:rPr>
              <a:t>Esha &amp; Kavita - 70 to 80 % of average time</a:t>
            </a:r>
          </a:p>
          <a:p>
            <a:pPr algn="ctr">
              <a:buFont typeface="Courier New" panose="02070309020205020404" pitchFamily="49" charset="0"/>
              <a:buChar char="o"/>
            </a:pPr>
            <a:r>
              <a:rPr lang="en-US" dirty="0">
                <a:solidFill>
                  <a:schemeClr val="accent3"/>
                </a:solidFill>
              </a:rPr>
              <a:t>Ethan –  little over but close to average time</a:t>
            </a:r>
          </a:p>
          <a:p>
            <a:pPr algn="ctr">
              <a:buFont typeface="Courier New" panose="02070309020205020404" pitchFamily="49" charset="0"/>
              <a:buChar char="o"/>
            </a:pPr>
            <a:r>
              <a:rPr lang="en-US" dirty="0">
                <a:solidFill>
                  <a:schemeClr val="accent5"/>
                </a:solidFill>
              </a:rPr>
              <a:t>Irene &amp; Harish – 110 to 115 % of average time</a:t>
            </a:r>
          </a:p>
          <a:p>
            <a:endParaRPr lang="en-US" dirty="0"/>
          </a:p>
        </p:txBody>
      </p:sp>
      <p:sp>
        <p:nvSpPr>
          <p:cNvPr id="3" name="Speech Bubble: Oval 2">
            <a:extLst>
              <a:ext uri="{FF2B5EF4-FFF2-40B4-BE49-F238E27FC236}">
                <a16:creationId xmlns:a16="http://schemas.microsoft.com/office/drawing/2014/main" id="{6AE1A9D1-B152-9D86-D911-3ED7F61C4E64}"/>
              </a:ext>
            </a:extLst>
          </p:cNvPr>
          <p:cNvSpPr/>
          <p:nvPr/>
        </p:nvSpPr>
        <p:spPr>
          <a:xfrm>
            <a:off x="6570919" y="5511018"/>
            <a:ext cx="725424" cy="412301"/>
          </a:xfrm>
          <a:prstGeom prst="wedgeEllipseCallou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peech Bubble: Oval 4">
            <a:extLst>
              <a:ext uri="{FF2B5EF4-FFF2-40B4-BE49-F238E27FC236}">
                <a16:creationId xmlns:a16="http://schemas.microsoft.com/office/drawing/2014/main" id="{9B883C5E-E7FE-D250-5497-E32BC782F0E3}"/>
              </a:ext>
            </a:extLst>
          </p:cNvPr>
          <p:cNvSpPr/>
          <p:nvPr/>
        </p:nvSpPr>
        <p:spPr>
          <a:xfrm>
            <a:off x="10012849" y="5511018"/>
            <a:ext cx="725424" cy="412301"/>
          </a:xfrm>
          <a:prstGeom prst="wedgeEllipseCallou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85539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90DF8-36CA-6CFE-6D21-1182EDB53F82}"/>
              </a:ext>
            </a:extLst>
          </p:cNvPr>
          <p:cNvSpPr>
            <a:spLocks noGrp="1"/>
          </p:cNvSpPr>
          <p:nvPr>
            <p:ph type="title"/>
          </p:nvPr>
        </p:nvSpPr>
        <p:spPr>
          <a:xfrm>
            <a:off x="677334" y="609600"/>
            <a:ext cx="10071946" cy="598172"/>
          </a:xfrm>
        </p:spPr>
        <p:txBody>
          <a:bodyPr>
            <a:normAutofit/>
          </a:bodyPr>
          <a:lstStyle/>
          <a:p>
            <a:pPr algn="ctr"/>
            <a:r>
              <a:rPr lang="en-US" sz="2000" b="1" dirty="0">
                <a:solidFill>
                  <a:schemeClr val="tx1"/>
                </a:solidFill>
              </a:rPr>
              <a:t>Average Total # of Tasks Completed by Team Members on Daily Basis</a:t>
            </a:r>
          </a:p>
        </p:txBody>
      </p:sp>
      <p:pic>
        <p:nvPicPr>
          <p:cNvPr id="4100" name="Picture 4">
            <a:extLst>
              <a:ext uri="{FF2B5EF4-FFF2-40B4-BE49-F238E27FC236}">
                <a16:creationId xmlns:a16="http://schemas.microsoft.com/office/drawing/2014/main" id="{8B82B9DF-30DA-C798-E553-2E4CE50163E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4789948" y="1397233"/>
            <a:ext cx="5075238" cy="38580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Content Placeholder 6">
            <a:extLst>
              <a:ext uri="{FF2B5EF4-FFF2-40B4-BE49-F238E27FC236}">
                <a16:creationId xmlns:a16="http://schemas.microsoft.com/office/drawing/2014/main" id="{D84E29CD-A702-001F-3AC4-CC48BD683FFA}"/>
              </a:ext>
            </a:extLst>
          </p:cNvPr>
          <p:cNvGraphicFramePr>
            <a:graphicFrameLocks noGrp="1"/>
          </p:cNvGraphicFramePr>
          <p:nvPr>
            <p:ph sz="half" idx="2"/>
            <p:extLst>
              <p:ext uri="{D42A27DB-BD31-4B8C-83A1-F6EECF244321}">
                <p14:modId xmlns:p14="http://schemas.microsoft.com/office/powerpoint/2010/main" val="2078185001"/>
              </p:ext>
            </p:extLst>
          </p:nvPr>
        </p:nvGraphicFramePr>
        <p:xfrm>
          <a:off x="422332" y="1627833"/>
          <a:ext cx="4069080" cy="2775406"/>
        </p:xfrm>
        <a:graphic>
          <a:graphicData uri="http://schemas.openxmlformats.org/drawingml/2006/table">
            <a:tbl>
              <a:tblPr firstRow="1" bandRow="1">
                <a:tableStyleId>{BC89EF96-8CEA-46FF-86C4-4CE0E7609802}</a:tableStyleId>
              </a:tblPr>
              <a:tblGrid>
                <a:gridCol w="1609344">
                  <a:extLst>
                    <a:ext uri="{9D8B030D-6E8A-4147-A177-3AD203B41FA5}">
                      <a16:colId xmlns:a16="http://schemas.microsoft.com/office/drawing/2014/main" val="4206478348"/>
                    </a:ext>
                  </a:extLst>
                </a:gridCol>
                <a:gridCol w="2459736">
                  <a:extLst>
                    <a:ext uri="{9D8B030D-6E8A-4147-A177-3AD203B41FA5}">
                      <a16:colId xmlns:a16="http://schemas.microsoft.com/office/drawing/2014/main" val="1969589691"/>
                    </a:ext>
                  </a:extLst>
                </a:gridCol>
              </a:tblGrid>
              <a:tr h="612733">
                <a:tc>
                  <a:txBody>
                    <a:bodyPr/>
                    <a:lstStyle/>
                    <a:p>
                      <a:pPr algn="ctr" fontAlgn="b">
                        <a:buNone/>
                      </a:pPr>
                      <a:r>
                        <a:rPr lang="en-US" sz="2000" b="1" i="0" u="none" strike="noStrike" dirty="0">
                          <a:solidFill>
                            <a:srgbClr val="000000"/>
                          </a:solidFill>
                          <a:effectLst/>
                          <a:latin typeface="Aptos Narrow" panose="020B0004020202020204" pitchFamily="34" charset="0"/>
                        </a:rPr>
                        <a:t>Username</a:t>
                      </a:r>
                    </a:p>
                  </a:txBody>
                  <a:tcPr marL="9525" marR="9525" marT="9525" marB="0" anchor="b"/>
                </a:tc>
                <a:tc>
                  <a:txBody>
                    <a:bodyPr/>
                    <a:lstStyle/>
                    <a:p>
                      <a:pPr algn="ctr" fontAlgn="b">
                        <a:buNone/>
                      </a:pPr>
                      <a:r>
                        <a:rPr lang="en-US" sz="2000" b="1" i="0" u="none" strike="noStrike" dirty="0" err="1">
                          <a:solidFill>
                            <a:srgbClr val="000000"/>
                          </a:solidFill>
                          <a:effectLst/>
                          <a:latin typeface="Aptos Narrow" panose="020B0004020202020204" pitchFamily="34" charset="0"/>
                        </a:rPr>
                        <a:t>Average_Daily_Tasks</a:t>
                      </a:r>
                      <a:r>
                        <a:rPr lang="en-US" sz="2000" b="1" i="0" u="none" strike="noStrike" dirty="0">
                          <a:solidFill>
                            <a:srgbClr val="000000"/>
                          </a:solidFill>
                          <a:effectLst/>
                          <a:latin typeface="Aptos Narrow" panose="020B0004020202020204" pitchFamily="34" charset="0"/>
                        </a:rPr>
                        <a:t> </a:t>
                      </a:r>
                    </a:p>
                  </a:txBody>
                  <a:tcPr marL="9525" marR="9525" marT="9525" marB="0" anchor="b"/>
                </a:tc>
                <a:extLst>
                  <a:ext uri="{0D108BD9-81ED-4DB2-BD59-A6C34878D82A}">
                    <a16:rowId xmlns:a16="http://schemas.microsoft.com/office/drawing/2014/main" val="881000155"/>
                  </a:ext>
                </a:extLst>
              </a:tr>
              <a:tr h="430092">
                <a:tc>
                  <a:txBody>
                    <a:bodyPr/>
                    <a:lstStyle/>
                    <a:p>
                      <a:pPr algn="ctr" fontAlgn="b">
                        <a:buNone/>
                      </a:pPr>
                      <a:r>
                        <a:rPr lang="en-US" sz="2000" b="1" i="0" u="none" strike="noStrike" dirty="0">
                          <a:solidFill>
                            <a:srgbClr val="000000"/>
                          </a:solidFill>
                          <a:effectLst/>
                          <a:latin typeface="Aptos Narrow" panose="020B0004020202020204" pitchFamily="34" charset="0"/>
                        </a:rPr>
                        <a:t>Esha</a:t>
                      </a:r>
                    </a:p>
                  </a:txBody>
                  <a:tcPr marL="9525" marR="9525" marT="9525" marB="0" anchor="b"/>
                </a:tc>
                <a:tc>
                  <a:txBody>
                    <a:bodyPr/>
                    <a:lstStyle/>
                    <a:p>
                      <a:pPr algn="ctr" fontAlgn="b">
                        <a:buNone/>
                      </a:pPr>
                      <a:r>
                        <a:rPr lang="en-US" sz="2000" b="1" i="0" u="none" strike="noStrike" dirty="0">
                          <a:solidFill>
                            <a:srgbClr val="000000"/>
                          </a:solidFill>
                          <a:effectLst/>
                          <a:latin typeface="Aptos Narrow" panose="020B0004020202020204" pitchFamily="34" charset="0"/>
                        </a:rPr>
                        <a:t> 86</a:t>
                      </a:r>
                    </a:p>
                  </a:txBody>
                  <a:tcPr marL="9525" marR="9525" marT="9525" marB="0" anchor="b"/>
                </a:tc>
                <a:extLst>
                  <a:ext uri="{0D108BD9-81ED-4DB2-BD59-A6C34878D82A}">
                    <a16:rowId xmlns:a16="http://schemas.microsoft.com/office/drawing/2014/main" val="3667959555"/>
                  </a:ext>
                </a:extLst>
              </a:tr>
              <a:tr h="442305">
                <a:tc>
                  <a:txBody>
                    <a:bodyPr/>
                    <a:lstStyle/>
                    <a:p>
                      <a:pPr algn="ctr" fontAlgn="b">
                        <a:buNone/>
                      </a:pPr>
                      <a:r>
                        <a:rPr lang="en-US" sz="2000" b="1" i="0" u="none" strike="noStrike" dirty="0">
                          <a:solidFill>
                            <a:srgbClr val="000000"/>
                          </a:solidFill>
                          <a:effectLst/>
                          <a:latin typeface="Aptos Narrow" panose="020B0004020202020204" pitchFamily="34" charset="0"/>
                        </a:rPr>
                        <a:t>Ethan </a:t>
                      </a:r>
                    </a:p>
                  </a:txBody>
                  <a:tcPr marL="9525" marR="9525" marT="9525" marB="0" anchor="b"/>
                </a:tc>
                <a:tc>
                  <a:txBody>
                    <a:bodyPr/>
                    <a:lstStyle/>
                    <a:p>
                      <a:pPr algn="ctr" fontAlgn="b">
                        <a:buNone/>
                      </a:pPr>
                      <a:r>
                        <a:rPr lang="en-US" sz="2000" b="1" i="0" u="none" strike="noStrike" dirty="0">
                          <a:solidFill>
                            <a:srgbClr val="000000"/>
                          </a:solidFill>
                          <a:effectLst/>
                          <a:latin typeface="Aptos Narrow" panose="020B0004020202020204" pitchFamily="34" charset="0"/>
                        </a:rPr>
                        <a:t>56</a:t>
                      </a:r>
                    </a:p>
                  </a:txBody>
                  <a:tcPr marL="9525" marR="9525" marT="9525" marB="0" anchor="b"/>
                </a:tc>
                <a:extLst>
                  <a:ext uri="{0D108BD9-81ED-4DB2-BD59-A6C34878D82A}">
                    <a16:rowId xmlns:a16="http://schemas.microsoft.com/office/drawing/2014/main" val="3418906531"/>
                  </a:ext>
                </a:extLst>
              </a:tr>
              <a:tr h="430092">
                <a:tc>
                  <a:txBody>
                    <a:bodyPr/>
                    <a:lstStyle/>
                    <a:p>
                      <a:pPr algn="ctr" fontAlgn="b">
                        <a:buNone/>
                      </a:pPr>
                      <a:r>
                        <a:rPr lang="en-US" sz="2000" b="1" i="0" u="none" strike="noStrike" dirty="0">
                          <a:solidFill>
                            <a:srgbClr val="000000"/>
                          </a:solidFill>
                          <a:effectLst/>
                          <a:latin typeface="Aptos Narrow" panose="020B0004020202020204" pitchFamily="34" charset="0"/>
                        </a:rPr>
                        <a:t>Harish </a:t>
                      </a:r>
                    </a:p>
                  </a:txBody>
                  <a:tcPr marL="9525" marR="9525" marT="9525" marB="0" anchor="b"/>
                </a:tc>
                <a:tc>
                  <a:txBody>
                    <a:bodyPr/>
                    <a:lstStyle/>
                    <a:p>
                      <a:pPr algn="ctr" fontAlgn="b">
                        <a:buNone/>
                      </a:pPr>
                      <a:r>
                        <a:rPr lang="en-US" sz="2000" b="1" i="0" u="none" strike="noStrike" dirty="0">
                          <a:solidFill>
                            <a:srgbClr val="000000"/>
                          </a:solidFill>
                          <a:effectLst/>
                          <a:latin typeface="Aptos Narrow" panose="020B0004020202020204" pitchFamily="34" charset="0"/>
                        </a:rPr>
                        <a:t>57</a:t>
                      </a:r>
                    </a:p>
                  </a:txBody>
                  <a:tcPr marL="9525" marR="9525" marT="9525" marB="0" anchor="b"/>
                </a:tc>
                <a:extLst>
                  <a:ext uri="{0D108BD9-81ED-4DB2-BD59-A6C34878D82A}">
                    <a16:rowId xmlns:a16="http://schemas.microsoft.com/office/drawing/2014/main" val="366187129"/>
                  </a:ext>
                </a:extLst>
              </a:tr>
              <a:tr h="430092">
                <a:tc>
                  <a:txBody>
                    <a:bodyPr/>
                    <a:lstStyle/>
                    <a:p>
                      <a:pPr algn="ctr" fontAlgn="b">
                        <a:buNone/>
                      </a:pPr>
                      <a:r>
                        <a:rPr lang="en-US" sz="2000" b="1" i="0" u="none" strike="noStrike">
                          <a:solidFill>
                            <a:srgbClr val="000000"/>
                          </a:solidFill>
                          <a:effectLst/>
                          <a:latin typeface="Aptos Narrow" panose="020B0004020202020204" pitchFamily="34" charset="0"/>
                        </a:rPr>
                        <a:t>Irene </a:t>
                      </a:r>
                    </a:p>
                  </a:txBody>
                  <a:tcPr marL="9525" marR="9525" marT="9525" marB="0" anchor="b"/>
                </a:tc>
                <a:tc>
                  <a:txBody>
                    <a:bodyPr/>
                    <a:lstStyle/>
                    <a:p>
                      <a:pPr algn="ctr" fontAlgn="b">
                        <a:buNone/>
                      </a:pPr>
                      <a:r>
                        <a:rPr lang="en-US" sz="2000" b="1" i="0" u="none" strike="noStrike" dirty="0">
                          <a:solidFill>
                            <a:srgbClr val="000000"/>
                          </a:solidFill>
                          <a:effectLst/>
                          <a:latin typeface="Aptos Narrow" panose="020B0004020202020204" pitchFamily="34" charset="0"/>
                        </a:rPr>
                        <a:t>61</a:t>
                      </a:r>
                    </a:p>
                  </a:txBody>
                  <a:tcPr marL="9525" marR="9525" marT="9525" marB="0" anchor="b"/>
                </a:tc>
                <a:extLst>
                  <a:ext uri="{0D108BD9-81ED-4DB2-BD59-A6C34878D82A}">
                    <a16:rowId xmlns:a16="http://schemas.microsoft.com/office/drawing/2014/main" val="2255957822"/>
                  </a:ext>
                </a:extLst>
              </a:tr>
              <a:tr h="430092">
                <a:tc>
                  <a:txBody>
                    <a:bodyPr/>
                    <a:lstStyle/>
                    <a:p>
                      <a:pPr algn="ctr" fontAlgn="b">
                        <a:buNone/>
                      </a:pPr>
                      <a:r>
                        <a:rPr lang="en-US" sz="2000" b="1" i="0" u="none" strike="noStrike" dirty="0">
                          <a:solidFill>
                            <a:srgbClr val="000000"/>
                          </a:solidFill>
                          <a:effectLst/>
                          <a:latin typeface="Aptos Narrow" panose="020B0004020202020204" pitchFamily="34" charset="0"/>
                        </a:rPr>
                        <a:t>Kavita </a:t>
                      </a:r>
                    </a:p>
                  </a:txBody>
                  <a:tcPr marL="9525" marR="9525" marT="9525" marB="0" anchor="b"/>
                </a:tc>
                <a:tc>
                  <a:txBody>
                    <a:bodyPr/>
                    <a:lstStyle/>
                    <a:p>
                      <a:pPr algn="ctr" fontAlgn="b">
                        <a:buNone/>
                      </a:pPr>
                      <a:r>
                        <a:rPr lang="en-US" sz="2000" b="1" i="0" u="none" strike="noStrike" dirty="0">
                          <a:solidFill>
                            <a:srgbClr val="000000"/>
                          </a:solidFill>
                          <a:effectLst/>
                          <a:latin typeface="Aptos Narrow" panose="020B0004020202020204" pitchFamily="34" charset="0"/>
                        </a:rPr>
                        <a:t>73</a:t>
                      </a:r>
                    </a:p>
                  </a:txBody>
                  <a:tcPr marL="9525" marR="9525" marT="9525" marB="0" anchor="b"/>
                </a:tc>
                <a:extLst>
                  <a:ext uri="{0D108BD9-81ED-4DB2-BD59-A6C34878D82A}">
                    <a16:rowId xmlns:a16="http://schemas.microsoft.com/office/drawing/2014/main" val="2826775687"/>
                  </a:ext>
                </a:extLst>
              </a:tr>
            </a:tbl>
          </a:graphicData>
        </a:graphic>
      </p:graphicFrame>
      <p:graphicFrame>
        <p:nvGraphicFramePr>
          <p:cNvPr id="8" name="Table 7">
            <a:extLst>
              <a:ext uri="{FF2B5EF4-FFF2-40B4-BE49-F238E27FC236}">
                <a16:creationId xmlns:a16="http://schemas.microsoft.com/office/drawing/2014/main" id="{A2AB640A-9336-4FDA-1565-87C1E3A608D1}"/>
              </a:ext>
            </a:extLst>
          </p:cNvPr>
          <p:cNvGraphicFramePr>
            <a:graphicFrameLocks noGrp="1"/>
          </p:cNvGraphicFramePr>
          <p:nvPr>
            <p:extLst>
              <p:ext uri="{D42A27DB-BD31-4B8C-83A1-F6EECF244321}">
                <p14:modId xmlns:p14="http://schemas.microsoft.com/office/powerpoint/2010/main" val="3675354868"/>
              </p:ext>
            </p:extLst>
          </p:nvPr>
        </p:nvGraphicFramePr>
        <p:xfrm>
          <a:off x="437546" y="4712677"/>
          <a:ext cx="3622390" cy="361741"/>
        </p:xfrm>
        <a:graphic>
          <a:graphicData uri="http://schemas.openxmlformats.org/drawingml/2006/table">
            <a:tbl>
              <a:tblPr>
                <a:tableStyleId>{5C22544A-7EE6-4342-B048-85BDC9FD1C3A}</a:tableStyleId>
              </a:tblPr>
              <a:tblGrid>
                <a:gridCol w="3622390">
                  <a:extLst>
                    <a:ext uri="{9D8B030D-6E8A-4147-A177-3AD203B41FA5}">
                      <a16:colId xmlns:a16="http://schemas.microsoft.com/office/drawing/2014/main" val="602034965"/>
                    </a:ext>
                  </a:extLst>
                </a:gridCol>
              </a:tblGrid>
              <a:tr h="361741">
                <a:tc>
                  <a:txBody>
                    <a:bodyPr/>
                    <a:lstStyle/>
                    <a:p>
                      <a:pPr algn="ctr" fontAlgn="b">
                        <a:buNone/>
                      </a:pPr>
                      <a:r>
                        <a:rPr lang="en-US" sz="1800" b="1" u="none" strike="noStrike" dirty="0">
                          <a:solidFill>
                            <a:srgbClr val="FF0000"/>
                          </a:solidFill>
                          <a:effectLst/>
                        </a:rPr>
                        <a:t>Average Daily Tasks: 67  </a:t>
                      </a:r>
                      <a:endParaRPr lang="en-US" sz="1800" b="1" i="0" u="none" strike="noStrike" dirty="0">
                        <a:solidFill>
                          <a:srgbClr val="FF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96192214"/>
                  </a:ext>
                </a:extLst>
              </a:tr>
            </a:tbl>
          </a:graphicData>
        </a:graphic>
      </p:graphicFrame>
      <p:sp>
        <p:nvSpPr>
          <p:cNvPr id="9" name="Rectangle: Rounded Corners 8">
            <a:extLst>
              <a:ext uri="{FF2B5EF4-FFF2-40B4-BE49-F238E27FC236}">
                <a16:creationId xmlns:a16="http://schemas.microsoft.com/office/drawing/2014/main" id="{1007A6FF-7FCC-BAF3-8B0E-6844F8B03326}"/>
              </a:ext>
            </a:extLst>
          </p:cNvPr>
          <p:cNvSpPr/>
          <p:nvPr/>
        </p:nvSpPr>
        <p:spPr>
          <a:xfrm>
            <a:off x="487787" y="2702303"/>
            <a:ext cx="3622390" cy="128689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97027C8-3A74-0CDF-93A8-1AB798C3FEA6}"/>
              </a:ext>
            </a:extLst>
          </p:cNvPr>
          <p:cNvSpPr txBox="1"/>
          <p:nvPr/>
        </p:nvSpPr>
        <p:spPr>
          <a:xfrm>
            <a:off x="834013" y="5459661"/>
            <a:ext cx="8350180" cy="923330"/>
          </a:xfrm>
          <a:prstGeom prst="rect">
            <a:avLst/>
          </a:prstGeom>
          <a:noFill/>
        </p:spPr>
        <p:txBody>
          <a:bodyPr wrap="square">
            <a:spAutoFit/>
          </a:bodyPr>
          <a:lstStyle/>
          <a:p>
            <a:pPr marL="285750" indent="-285750" algn="ctr">
              <a:buFont typeface="Wingdings" panose="05000000000000000000" pitchFamily="2" charset="2"/>
              <a:buChar char="Ø"/>
            </a:pPr>
            <a:r>
              <a:rPr lang="en-US" dirty="0">
                <a:solidFill>
                  <a:schemeClr val="accent1"/>
                </a:solidFill>
              </a:rPr>
              <a:t>Esha &amp; Kavita -  10 to 30 % more than number of average daily tasks</a:t>
            </a:r>
          </a:p>
          <a:p>
            <a:pPr marL="285750" indent="-285750" algn="ctr">
              <a:buFont typeface="Wingdings" panose="05000000000000000000" pitchFamily="2" charset="2"/>
              <a:buChar char="Ø"/>
            </a:pPr>
            <a:r>
              <a:rPr lang="en-US" dirty="0">
                <a:solidFill>
                  <a:srgbClr val="FF0000"/>
                </a:solidFill>
              </a:rPr>
              <a:t>Irene, Harish &amp; Ethan – 10 to 15 % less than number of average daily tasks</a:t>
            </a:r>
          </a:p>
          <a:p>
            <a:pPr marL="285750" indent="-285750" algn="ctr">
              <a:buFont typeface="Wingdings" panose="05000000000000000000" pitchFamily="2" charset="2"/>
              <a:buChar char="Ø"/>
            </a:pPr>
            <a:endParaRPr lang="en-US" dirty="0">
              <a:solidFill>
                <a:schemeClr val="accent6"/>
              </a:solidFill>
            </a:endParaRPr>
          </a:p>
        </p:txBody>
      </p:sp>
    </p:spTree>
    <p:extLst>
      <p:ext uri="{BB962C8B-B14F-4D97-AF65-F5344CB8AC3E}">
        <p14:creationId xmlns:p14="http://schemas.microsoft.com/office/powerpoint/2010/main" val="272768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5B355-A6B8-F69E-335D-5B3845337721}"/>
              </a:ext>
            </a:extLst>
          </p:cNvPr>
          <p:cNvSpPr>
            <a:spLocks noGrp="1"/>
          </p:cNvSpPr>
          <p:nvPr>
            <p:ph type="title"/>
          </p:nvPr>
        </p:nvSpPr>
        <p:spPr>
          <a:xfrm>
            <a:off x="637141" y="378488"/>
            <a:ext cx="10014112" cy="533400"/>
          </a:xfrm>
        </p:spPr>
        <p:txBody>
          <a:bodyPr>
            <a:normAutofit/>
          </a:bodyPr>
          <a:lstStyle/>
          <a:p>
            <a:pPr algn="ctr"/>
            <a:r>
              <a:rPr kumimoji="0" lang="en-US" sz="2000" b="1" strike="noStrike" kern="1200" cap="none" spc="0" normalizeH="0" baseline="0" noProof="0" dirty="0">
                <a:ln>
                  <a:noFill/>
                </a:ln>
                <a:solidFill>
                  <a:schemeClr val="tx1"/>
                </a:solidFill>
                <a:effectLst/>
                <a:uLnTx/>
                <a:uFillTx/>
                <a:latin typeface="Trebuchet MS" panose="020B0603020202020204"/>
                <a:ea typeface="+mj-ea"/>
                <a:cs typeface="+mj-cs"/>
              </a:rPr>
              <a:t>Average Total # of Tasks Completed by Team Members on Monthly Basis</a:t>
            </a:r>
            <a:endParaRPr lang="en-US" dirty="0">
              <a:solidFill>
                <a:schemeClr val="tx1"/>
              </a:solidFill>
            </a:endParaRPr>
          </a:p>
        </p:txBody>
      </p:sp>
      <p:sp>
        <p:nvSpPr>
          <p:cNvPr id="4" name="Content Placeholder 3">
            <a:extLst>
              <a:ext uri="{FF2B5EF4-FFF2-40B4-BE49-F238E27FC236}">
                <a16:creationId xmlns:a16="http://schemas.microsoft.com/office/drawing/2014/main" id="{0F79E92E-DFC1-D475-DB29-0CCB874B93E5}"/>
              </a:ext>
            </a:extLst>
          </p:cNvPr>
          <p:cNvSpPr>
            <a:spLocks noGrp="1"/>
          </p:cNvSpPr>
          <p:nvPr>
            <p:ph idx="1"/>
          </p:nvPr>
        </p:nvSpPr>
        <p:spPr>
          <a:xfrm>
            <a:off x="741342" y="1488613"/>
            <a:ext cx="8596668" cy="3880773"/>
          </a:xfrm>
        </p:spPr>
        <p:txBody>
          <a:bodyPr/>
          <a:lstStyle/>
          <a:p>
            <a:endParaRPr lang="en-US" dirty="0"/>
          </a:p>
        </p:txBody>
      </p:sp>
      <p:pic>
        <p:nvPicPr>
          <p:cNvPr id="5124" name="Picture 4">
            <a:extLst>
              <a:ext uri="{FF2B5EF4-FFF2-40B4-BE49-F238E27FC236}">
                <a16:creationId xmlns:a16="http://schemas.microsoft.com/office/drawing/2014/main" id="{011ADC6F-CA2B-866B-777C-10C537578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287" y="1286188"/>
            <a:ext cx="8842549" cy="413992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D0802FD-89B9-8EC0-0539-7666E2A219BF}"/>
              </a:ext>
            </a:extLst>
          </p:cNvPr>
          <p:cNvSpPr txBox="1">
            <a:spLocks/>
          </p:cNvSpPr>
          <p:nvPr/>
        </p:nvSpPr>
        <p:spPr>
          <a:xfrm>
            <a:off x="444676" y="5637125"/>
            <a:ext cx="10859719" cy="762000"/>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dirty="0">
                <a:solidFill>
                  <a:schemeClr val="accent6"/>
                </a:solidFill>
              </a:rPr>
              <a:t>When comparing the averages of monthly tasks completed by a team member,  Esha has the higher number of tasks month by month followed by Kavita who started in March 2025 while Irene, Harish and Ethan’s productivity plateaued and were below Esha and Kavita’s.</a:t>
            </a:r>
          </a:p>
        </p:txBody>
      </p:sp>
    </p:spTree>
    <p:extLst>
      <p:ext uri="{BB962C8B-B14F-4D97-AF65-F5344CB8AC3E}">
        <p14:creationId xmlns:p14="http://schemas.microsoft.com/office/powerpoint/2010/main" val="599209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0F6F0-4169-23BF-5DA3-A394BDC4A62F}"/>
              </a:ext>
            </a:extLst>
          </p:cNvPr>
          <p:cNvSpPr>
            <a:spLocks noGrp="1"/>
          </p:cNvSpPr>
          <p:nvPr>
            <p:ph type="title"/>
          </p:nvPr>
        </p:nvSpPr>
        <p:spPr>
          <a:xfrm>
            <a:off x="596947" y="308149"/>
            <a:ext cx="9893531" cy="670560"/>
          </a:xfrm>
        </p:spPr>
        <p:txBody>
          <a:bodyPr>
            <a:normAutofit fontScale="90000"/>
          </a:bodyPr>
          <a:lstStyle/>
          <a:p>
            <a:pPr algn="ctr"/>
            <a:r>
              <a:rPr lang="en-US" sz="2700" b="1" dirty="0">
                <a:solidFill>
                  <a:schemeClr val="tx2"/>
                </a:solidFill>
              </a:rPr>
              <a:t>Hourly Productivity of Team Members for a Random Month </a:t>
            </a:r>
            <a:br>
              <a:rPr lang="en-US" dirty="0"/>
            </a:br>
            <a:endParaRPr lang="en-US" dirty="0"/>
          </a:p>
        </p:txBody>
      </p:sp>
      <p:pic>
        <p:nvPicPr>
          <p:cNvPr id="3074" name="Picture 2">
            <a:extLst>
              <a:ext uri="{FF2B5EF4-FFF2-40B4-BE49-F238E27FC236}">
                <a16:creationId xmlns:a16="http://schemas.microsoft.com/office/drawing/2014/main" id="{22FFB015-BF78-DEE6-06FE-649280CF490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5044" y="964643"/>
            <a:ext cx="10778287" cy="47559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47303F-8ED6-0DF3-6D40-5FA3ED167659}"/>
              </a:ext>
            </a:extLst>
          </p:cNvPr>
          <p:cNvSpPr txBox="1"/>
          <p:nvPr/>
        </p:nvSpPr>
        <p:spPr>
          <a:xfrm>
            <a:off x="265351" y="5847526"/>
            <a:ext cx="10848125" cy="523220"/>
          </a:xfrm>
          <a:prstGeom prst="rect">
            <a:avLst/>
          </a:prstGeom>
          <a:noFill/>
        </p:spPr>
        <p:txBody>
          <a:bodyPr wrap="square">
            <a:spAutoFit/>
          </a:bodyPr>
          <a:lstStyle/>
          <a:p>
            <a:pPr algn="ctr"/>
            <a:r>
              <a:rPr lang="en-US" sz="1400" dirty="0">
                <a:solidFill>
                  <a:schemeClr val="accent6"/>
                </a:solidFill>
              </a:rPr>
              <a:t>As you see on the graph Hourly productivity was consistent throughout the day for some of the users when compared to others. </a:t>
            </a:r>
          </a:p>
          <a:p>
            <a:pPr algn="ctr"/>
            <a:endParaRPr lang="en-US" sz="1400" dirty="0">
              <a:solidFill>
                <a:srgbClr val="FF0000"/>
              </a:solidFill>
            </a:endParaRPr>
          </a:p>
        </p:txBody>
      </p:sp>
    </p:spTree>
    <p:extLst>
      <p:ext uri="{BB962C8B-B14F-4D97-AF65-F5344CB8AC3E}">
        <p14:creationId xmlns:p14="http://schemas.microsoft.com/office/powerpoint/2010/main" val="3975252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7DF57-5A6A-D0FF-0B3B-7BB93E8CC57D}"/>
              </a:ext>
            </a:extLst>
          </p:cNvPr>
          <p:cNvSpPr>
            <a:spLocks noGrp="1"/>
          </p:cNvSpPr>
          <p:nvPr>
            <p:ph type="title"/>
          </p:nvPr>
        </p:nvSpPr>
        <p:spPr>
          <a:xfrm>
            <a:off x="657014" y="924561"/>
            <a:ext cx="8596668" cy="345439"/>
          </a:xfrm>
        </p:spPr>
        <p:txBody>
          <a:bodyPr>
            <a:normAutofit/>
          </a:bodyPr>
          <a:lstStyle/>
          <a:p>
            <a:pPr algn="ctr"/>
            <a:r>
              <a:rPr lang="en-US" sz="1600" b="1" dirty="0">
                <a:solidFill>
                  <a:schemeClr val="tx1"/>
                </a:solidFill>
              </a:rPr>
              <a:t>Notification &amp; Clinical Review Task Comparison</a:t>
            </a:r>
          </a:p>
        </p:txBody>
      </p:sp>
      <p:sp>
        <p:nvSpPr>
          <p:cNvPr id="8" name="Text Placeholder 7">
            <a:extLst>
              <a:ext uri="{FF2B5EF4-FFF2-40B4-BE49-F238E27FC236}">
                <a16:creationId xmlns:a16="http://schemas.microsoft.com/office/drawing/2014/main" id="{A7D9D160-B65F-8349-26AA-93869FBBF296}"/>
              </a:ext>
            </a:extLst>
          </p:cNvPr>
          <p:cNvSpPr>
            <a:spLocks noGrp="1"/>
          </p:cNvSpPr>
          <p:nvPr>
            <p:ph type="body" idx="1"/>
          </p:nvPr>
        </p:nvSpPr>
        <p:spPr>
          <a:xfrm>
            <a:off x="825186" y="1339017"/>
            <a:ext cx="4185623" cy="999885"/>
          </a:xfrm>
        </p:spPr>
        <p:txBody>
          <a:bodyPr/>
          <a:lstStyle/>
          <a:p>
            <a:pPr algn="ctr"/>
            <a:endParaRPr lang="en-US" sz="1400" u="sng" dirty="0"/>
          </a:p>
          <a:p>
            <a:pPr algn="ctr"/>
            <a:endParaRPr lang="en-US" sz="1400" u="sng" dirty="0"/>
          </a:p>
          <a:p>
            <a:pPr marL="0" marR="0" lvl="0" indent="0" algn="ctr" defTabSz="457200" rtl="0" eaLnBrk="1" fontAlgn="auto" latinLnBrk="0" hangingPunct="1">
              <a:lnSpc>
                <a:spcPct val="100000"/>
              </a:lnSpc>
              <a:spcBef>
                <a:spcPts val="1000"/>
              </a:spcBef>
              <a:spcAft>
                <a:spcPts val="0"/>
              </a:spcAft>
              <a:buClr>
                <a:srgbClr val="90C226"/>
              </a:buClr>
              <a:buSzPct val="80000"/>
              <a:buFont typeface="Wingdings 3" charset="2"/>
              <a:buNone/>
              <a:tabLst/>
              <a:defRPr/>
            </a:pPr>
            <a:r>
              <a:rPr kumimoji="0" lang="en-US" sz="1400" b="0" i="0" u="sng" strike="noStrike" kern="1200" cap="none" spc="0" normalizeH="0" baseline="0" noProof="0" dirty="0">
                <a:ln>
                  <a:noFill/>
                </a:ln>
                <a:solidFill>
                  <a:schemeClr val="accent2"/>
                </a:solidFill>
                <a:effectLst/>
                <a:uLnTx/>
                <a:uFillTx/>
                <a:latin typeface="Trebuchet MS" panose="020B0603020202020204"/>
                <a:ea typeface="+mn-ea"/>
                <a:cs typeface="+mn-cs"/>
              </a:rPr>
              <a:t>For Notification Task</a:t>
            </a:r>
          </a:p>
          <a:p>
            <a:pPr marL="0" marR="0" lvl="0" indent="0" algn="ctr" defTabSz="457200" rtl="0" eaLnBrk="1" fontAlgn="auto" latinLnBrk="0" hangingPunct="1">
              <a:lnSpc>
                <a:spcPct val="100000"/>
              </a:lnSpc>
              <a:spcBef>
                <a:spcPts val="1000"/>
              </a:spcBef>
              <a:spcAft>
                <a:spcPts val="0"/>
              </a:spcAft>
              <a:buClr>
                <a:srgbClr val="90C226"/>
              </a:buClr>
              <a:buSzPct val="80000"/>
              <a:buFont typeface="Wingdings 3" charset="2"/>
              <a:buNone/>
              <a:tabLst/>
              <a:defRPr/>
            </a:pPr>
            <a:r>
              <a:rPr kumimoji="0" lang="en-US" sz="1400" b="0" i="0" u="none" strike="noStrike" kern="1200" cap="none" spc="0" normalizeH="0" baseline="0" noProof="0" dirty="0">
                <a:ln>
                  <a:noFill/>
                </a:ln>
                <a:solidFill>
                  <a:schemeClr val="accent2"/>
                </a:solidFill>
                <a:effectLst/>
                <a:uLnTx/>
                <a:uFillTx/>
                <a:latin typeface="Trebuchet MS" panose="020B0603020202020204"/>
                <a:ea typeface="+mn-ea"/>
                <a:cs typeface="+mn-cs"/>
              </a:rPr>
              <a:t>Most productive hour: 17:00 PM</a:t>
            </a:r>
          </a:p>
          <a:p>
            <a:pPr marL="0" marR="0" lvl="0" indent="0" algn="ctr" defTabSz="457200" rtl="0" eaLnBrk="1" fontAlgn="auto" latinLnBrk="0" hangingPunct="1">
              <a:lnSpc>
                <a:spcPct val="100000"/>
              </a:lnSpc>
              <a:spcBef>
                <a:spcPts val="1000"/>
              </a:spcBef>
              <a:spcAft>
                <a:spcPts val="0"/>
              </a:spcAft>
              <a:buClr>
                <a:srgbClr val="90C226"/>
              </a:buClr>
              <a:buSzPct val="80000"/>
              <a:buFont typeface="Wingdings 3" charset="2"/>
              <a:buNone/>
              <a:tabLst/>
              <a:defRPr/>
            </a:pPr>
            <a:r>
              <a:rPr kumimoji="0" lang="en-US" sz="1400" b="0" i="0" u="none" strike="noStrike" kern="1200" cap="none" spc="0" normalizeH="0" baseline="0" noProof="0" dirty="0">
                <a:ln>
                  <a:noFill/>
                </a:ln>
                <a:solidFill>
                  <a:schemeClr val="accent2"/>
                </a:solidFill>
                <a:effectLst/>
                <a:uLnTx/>
                <a:uFillTx/>
                <a:latin typeface="Trebuchet MS" panose="020B0603020202020204"/>
                <a:ea typeface="+mn-ea"/>
                <a:cs typeface="+mn-cs"/>
              </a:rPr>
              <a:t>Least productive hour: 7:00 AM</a:t>
            </a:r>
          </a:p>
        </p:txBody>
      </p:sp>
      <p:pic>
        <p:nvPicPr>
          <p:cNvPr id="13" name="Content Placeholder 12">
            <a:extLst>
              <a:ext uri="{FF2B5EF4-FFF2-40B4-BE49-F238E27FC236}">
                <a16:creationId xmlns:a16="http://schemas.microsoft.com/office/drawing/2014/main" id="{DF4B9F07-526D-ACAE-4E36-E9198F4BA2F5}"/>
              </a:ext>
            </a:extLst>
          </p:cNvPr>
          <p:cNvPicPr>
            <a:picLocks noGrp="1" noChangeAspect="1"/>
          </p:cNvPicPr>
          <p:nvPr>
            <p:ph sz="half" idx="2"/>
          </p:nvPr>
        </p:nvPicPr>
        <p:blipFill>
          <a:blip r:embed="rId3"/>
          <a:stretch>
            <a:fillRect/>
          </a:stretch>
        </p:blipFill>
        <p:spPr>
          <a:xfrm>
            <a:off x="677334" y="2574542"/>
            <a:ext cx="4184650" cy="3121881"/>
          </a:xfrm>
          <a:prstGeom prst="rect">
            <a:avLst/>
          </a:prstGeom>
        </p:spPr>
      </p:pic>
      <p:sp>
        <p:nvSpPr>
          <p:cNvPr id="10" name="Text Placeholder 9">
            <a:extLst>
              <a:ext uri="{FF2B5EF4-FFF2-40B4-BE49-F238E27FC236}">
                <a16:creationId xmlns:a16="http://schemas.microsoft.com/office/drawing/2014/main" id="{1F650BFB-0DF8-28E0-0DBC-3A61356BEAF2}"/>
              </a:ext>
            </a:extLst>
          </p:cNvPr>
          <p:cNvSpPr>
            <a:spLocks noGrp="1"/>
          </p:cNvSpPr>
          <p:nvPr>
            <p:ph type="body" sz="quarter" idx="3"/>
          </p:nvPr>
        </p:nvSpPr>
        <p:spPr>
          <a:xfrm>
            <a:off x="5010809" y="1437639"/>
            <a:ext cx="4185618" cy="901263"/>
          </a:xfrm>
        </p:spPr>
        <p:txBody>
          <a:bodyPr/>
          <a:lstStyle/>
          <a:p>
            <a:pPr algn="ctr"/>
            <a:r>
              <a:rPr lang="en-US" sz="1400" u="sng" dirty="0">
                <a:solidFill>
                  <a:schemeClr val="accent2"/>
                </a:solidFill>
              </a:rPr>
              <a:t>For Clinical Review Task</a:t>
            </a:r>
          </a:p>
          <a:p>
            <a:pPr algn="ctr"/>
            <a:r>
              <a:rPr lang="en-US" sz="1400" dirty="0">
                <a:solidFill>
                  <a:schemeClr val="accent2"/>
                </a:solidFill>
              </a:rPr>
              <a:t>Most productive hours: 11:00 AM &amp; 15:00 PM</a:t>
            </a:r>
          </a:p>
          <a:p>
            <a:pPr algn="ctr"/>
            <a:r>
              <a:rPr lang="en-US" sz="1400" dirty="0">
                <a:solidFill>
                  <a:schemeClr val="accent2"/>
                </a:solidFill>
              </a:rPr>
              <a:t>Least productive hour: 22:00 PM</a:t>
            </a:r>
          </a:p>
        </p:txBody>
      </p:sp>
      <p:pic>
        <p:nvPicPr>
          <p:cNvPr id="15" name="Content Placeholder 14">
            <a:extLst>
              <a:ext uri="{FF2B5EF4-FFF2-40B4-BE49-F238E27FC236}">
                <a16:creationId xmlns:a16="http://schemas.microsoft.com/office/drawing/2014/main" id="{91CF94FC-C99B-D74D-11FD-3EC04127E079}"/>
              </a:ext>
            </a:extLst>
          </p:cNvPr>
          <p:cNvPicPr>
            <a:picLocks noGrp="1" noChangeAspect="1"/>
          </p:cNvPicPr>
          <p:nvPr>
            <p:ph sz="quarter" idx="4"/>
          </p:nvPr>
        </p:nvPicPr>
        <p:blipFill>
          <a:blip r:embed="rId4"/>
          <a:stretch>
            <a:fillRect/>
          </a:stretch>
        </p:blipFill>
        <p:spPr>
          <a:xfrm>
            <a:off x="5010809" y="2542878"/>
            <a:ext cx="4186237" cy="3123065"/>
          </a:xfrm>
          <a:prstGeom prst="rect">
            <a:avLst/>
          </a:prstGeom>
        </p:spPr>
      </p:pic>
      <p:sp>
        <p:nvSpPr>
          <p:cNvPr id="16" name="Title 1">
            <a:extLst>
              <a:ext uri="{FF2B5EF4-FFF2-40B4-BE49-F238E27FC236}">
                <a16:creationId xmlns:a16="http://schemas.microsoft.com/office/drawing/2014/main" id="{D3684F1A-58F5-A09B-3FC2-03CED4AAC4FB}"/>
              </a:ext>
            </a:extLst>
          </p:cNvPr>
          <p:cNvSpPr txBox="1">
            <a:spLocks/>
          </p:cNvSpPr>
          <p:nvPr/>
        </p:nvSpPr>
        <p:spPr>
          <a:xfrm>
            <a:off x="311633" y="5919462"/>
            <a:ext cx="11646687" cy="657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1800" dirty="0">
                <a:solidFill>
                  <a:schemeClr val="accent6"/>
                </a:solidFill>
              </a:rPr>
              <a:t>*** Overall, low productive time within shift 9-5:30 was observed between 9 to 10 AM as well as 12 to 2 PM ***</a:t>
            </a:r>
          </a:p>
        </p:txBody>
      </p:sp>
      <p:sp>
        <p:nvSpPr>
          <p:cNvPr id="3" name="Title 1">
            <a:extLst>
              <a:ext uri="{FF2B5EF4-FFF2-40B4-BE49-F238E27FC236}">
                <a16:creationId xmlns:a16="http://schemas.microsoft.com/office/drawing/2014/main" id="{1699FF3F-4014-C651-2F56-9530EEFB6DFB}"/>
              </a:ext>
            </a:extLst>
          </p:cNvPr>
          <p:cNvSpPr txBox="1">
            <a:spLocks/>
          </p:cNvSpPr>
          <p:nvPr/>
        </p:nvSpPr>
        <p:spPr>
          <a:xfrm>
            <a:off x="386080" y="233681"/>
            <a:ext cx="11369040" cy="524256"/>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b="1" dirty="0">
                <a:solidFill>
                  <a:schemeClr val="tx1"/>
                </a:solidFill>
              </a:rPr>
              <a:t>Determine factors influencing higher number of tasks not completed </a:t>
            </a:r>
          </a:p>
        </p:txBody>
      </p:sp>
    </p:spTree>
    <p:extLst>
      <p:ext uri="{BB962C8B-B14F-4D97-AF65-F5344CB8AC3E}">
        <p14:creationId xmlns:p14="http://schemas.microsoft.com/office/powerpoint/2010/main" val="1025996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FF8B537-D4DA-05F0-614E-4073E55DE41B}"/>
              </a:ext>
            </a:extLst>
          </p:cNvPr>
          <p:cNvSpPr txBox="1"/>
          <p:nvPr/>
        </p:nvSpPr>
        <p:spPr>
          <a:xfrm>
            <a:off x="365760" y="792480"/>
            <a:ext cx="11430000" cy="5786199"/>
          </a:xfrm>
          <a:prstGeom prst="rect">
            <a:avLst/>
          </a:prstGeom>
          <a:noFill/>
        </p:spPr>
        <p:txBody>
          <a:bodyPr wrap="square">
            <a:spAutoFit/>
          </a:bodyPr>
          <a:lstStyle/>
          <a:p>
            <a:r>
              <a:rPr lang="en-US" sz="1400" dirty="0">
                <a:solidFill>
                  <a:schemeClr val="tx2"/>
                </a:solidFill>
              </a:rPr>
              <a:t>To maintain strict CMS 24 to 72-hour turnaround rules, workflows must be structured around CMS Prior Authorization timelines. The primary factors driving uncompleted tasks are misaligned scheduling and after-hours productivity spikes, which cause delays in required clinical reviews and 2nd attempt notifications.</a:t>
            </a:r>
          </a:p>
          <a:p>
            <a:endParaRPr lang="en-US" sz="1400" dirty="0">
              <a:solidFill>
                <a:schemeClr val="accent6"/>
              </a:solidFill>
            </a:endParaRPr>
          </a:p>
          <a:p>
            <a:r>
              <a:rPr lang="en-US" sz="1600" b="1" u="sng" dirty="0">
                <a:solidFill>
                  <a:schemeClr val="accent6"/>
                </a:solidFill>
              </a:rPr>
              <a:t>Key Factors Causing Uncompleted Tasks</a:t>
            </a:r>
          </a:p>
          <a:p>
            <a:endParaRPr lang="en-US" sz="1600" b="1" u="sng" dirty="0">
              <a:solidFill>
                <a:schemeClr val="tx2"/>
              </a:solidFill>
            </a:endParaRPr>
          </a:p>
          <a:p>
            <a:pPr marL="285750" indent="-285750">
              <a:buFont typeface="Arial" panose="020B0604020202020204" pitchFamily="34" charset="0"/>
              <a:buChar char="•"/>
            </a:pPr>
            <a:r>
              <a:rPr lang="en-US" sz="1400" b="1" dirty="0">
                <a:solidFill>
                  <a:schemeClr val="tx2"/>
                </a:solidFill>
              </a:rPr>
              <a:t>Misaligned Work Patterns:</a:t>
            </a:r>
            <a:r>
              <a:rPr lang="en-US" sz="1400" dirty="0">
                <a:solidFill>
                  <a:schemeClr val="tx2"/>
                </a:solidFill>
              </a:rPr>
              <a:t> The data shows that productivity spikes at the end of the day rather than being evenly distributed. Because the 24 to 72-hour CMS clock ticks continuously, waiting until the late afternoon to process cases means there is insufficient runway to complete secondary steps (like final determinations or physician/member follow-ups).</a:t>
            </a:r>
          </a:p>
          <a:p>
            <a:pPr marL="285750" indent="-285750">
              <a:buFont typeface="Arial" panose="020B0604020202020204" pitchFamily="34" charset="0"/>
              <a:buChar char="•"/>
            </a:pPr>
            <a:endParaRPr lang="en-US" sz="1400" dirty="0">
              <a:solidFill>
                <a:schemeClr val="tx2"/>
              </a:solidFill>
            </a:endParaRPr>
          </a:p>
          <a:p>
            <a:pPr marL="285750" indent="-285750">
              <a:buFont typeface="Arial" panose="020B0604020202020204" pitchFamily="34" charset="0"/>
              <a:buChar char="•"/>
            </a:pPr>
            <a:r>
              <a:rPr lang="en-US" sz="1400" b="1" dirty="0">
                <a:solidFill>
                  <a:schemeClr val="tx2"/>
                </a:solidFill>
              </a:rPr>
              <a:t>Extended-Hour Dip:</a:t>
            </a:r>
            <a:r>
              <a:rPr lang="en-US" sz="1400" dirty="0">
                <a:solidFill>
                  <a:schemeClr val="tx2"/>
                </a:solidFill>
              </a:rPr>
              <a:t> While offering a flexible work-life balance is ideal, the data highlights that task resolution drops significantly outside normal business hours. Working outside peak times may interrupt communication with medical offices or members.</a:t>
            </a:r>
          </a:p>
          <a:p>
            <a:pPr marL="285750" indent="-285750">
              <a:buFont typeface="Arial" panose="020B0604020202020204" pitchFamily="34" charset="0"/>
              <a:buChar char="•"/>
            </a:pPr>
            <a:endParaRPr lang="en-US" sz="1400" dirty="0">
              <a:solidFill>
                <a:schemeClr val="tx2"/>
              </a:solidFill>
            </a:endParaRPr>
          </a:p>
          <a:p>
            <a:pPr marL="285750" indent="-285750">
              <a:buFont typeface="Arial" panose="020B0604020202020204" pitchFamily="34" charset="0"/>
              <a:buChar char="•"/>
            </a:pPr>
            <a:r>
              <a:rPr lang="en-US" sz="1400" b="1" dirty="0">
                <a:solidFill>
                  <a:schemeClr val="tx2"/>
                </a:solidFill>
              </a:rPr>
              <a:t>Clinical Review Bottlenecks:</a:t>
            </a:r>
            <a:r>
              <a:rPr lang="en-US" sz="1400" dirty="0">
                <a:solidFill>
                  <a:schemeClr val="tx2"/>
                </a:solidFill>
              </a:rPr>
              <a:t> Because clinical reviews demand rigorous medical necessity evaluations, attempting to tackle them at the end of the shift frequently leads to a backlog of uncompleted reviews and potential compliance risks.</a:t>
            </a:r>
          </a:p>
          <a:p>
            <a:pPr marL="285750" indent="-285750">
              <a:buFont typeface="Arial" panose="020B0604020202020204" pitchFamily="34" charset="0"/>
              <a:buChar char="•"/>
            </a:pPr>
            <a:endParaRPr lang="en-US" sz="1400" b="1" u="sng" dirty="0">
              <a:solidFill>
                <a:schemeClr val="tx2"/>
              </a:solidFill>
            </a:endParaRPr>
          </a:p>
          <a:p>
            <a:r>
              <a:rPr lang="en-US" sz="1600" b="1" u="sng" dirty="0">
                <a:solidFill>
                  <a:schemeClr val="accent6"/>
                </a:solidFill>
              </a:rPr>
              <a:t>Actionable Strategies to Prevent Compliance Risks</a:t>
            </a:r>
          </a:p>
          <a:p>
            <a:endParaRPr lang="en-US" sz="1400" b="1" dirty="0">
              <a:solidFill>
                <a:schemeClr val="tx2"/>
              </a:solidFill>
            </a:endParaRPr>
          </a:p>
          <a:p>
            <a:pPr marL="285750" indent="-285750">
              <a:buFont typeface="Arial" panose="020B0604020202020204" pitchFamily="34" charset="0"/>
              <a:buChar char="•"/>
            </a:pPr>
            <a:r>
              <a:rPr lang="en-US" sz="1400" b="1" dirty="0">
                <a:solidFill>
                  <a:schemeClr val="tx2"/>
                </a:solidFill>
              </a:rPr>
              <a:t>Shift Distribution:</a:t>
            </a:r>
            <a:r>
              <a:rPr lang="en-US" sz="1400" dirty="0">
                <a:solidFill>
                  <a:schemeClr val="tx2"/>
                </a:solidFill>
              </a:rPr>
              <a:t> Consider implementing a morning-heavy queue for complex clinical reviews. Tasking your most productive hours (start of day) with the highest-risk, time-sensitive clinical items guarantees the team has a buffer to complete subsequent notifications.</a:t>
            </a:r>
          </a:p>
          <a:p>
            <a:endParaRPr lang="en-US" sz="1400" dirty="0">
              <a:solidFill>
                <a:schemeClr val="tx2"/>
              </a:solidFill>
            </a:endParaRPr>
          </a:p>
          <a:p>
            <a:pPr marL="285750" indent="-285750">
              <a:buFont typeface="Arial" panose="020B0604020202020204" pitchFamily="34" charset="0"/>
              <a:buChar char="•"/>
            </a:pPr>
            <a:r>
              <a:rPr lang="en-US" sz="1400" b="1" dirty="0">
                <a:solidFill>
                  <a:schemeClr val="tx2"/>
                </a:solidFill>
              </a:rPr>
              <a:t>Synchronous Case Management:</a:t>
            </a:r>
            <a:r>
              <a:rPr lang="en-US" sz="1400" dirty="0">
                <a:solidFill>
                  <a:schemeClr val="tx2"/>
                </a:solidFill>
              </a:rPr>
              <a:t> Ensure 2nd attempt notifications are handled at pre-scheduled mid-day intervals. This removes the reliance on after-hours productivity, resulting in faster answers and less friction for both providers and member.</a:t>
            </a:r>
          </a:p>
          <a:p>
            <a:pPr marL="285750" indent="-285750">
              <a:buFont typeface="Arial" panose="020B0604020202020204" pitchFamily="34" charset="0"/>
              <a:buChar char="•"/>
            </a:pPr>
            <a:endParaRPr lang="en-US" sz="1400" b="1" dirty="0">
              <a:solidFill>
                <a:schemeClr val="tx2"/>
              </a:solidFill>
            </a:endParaRPr>
          </a:p>
          <a:p>
            <a:pPr marL="285750" indent="-285750">
              <a:buFont typeface="Arial" panose="020B0604020202020204" pitchFamily="34" charset="0"/>
              <a:buChar char="•"/>
            </a:pPr>
            <a:r>
              <a:rPr lang="en-US" sz="1400" b="1" dirty="0">
                <a:solidFill>
                  <a:schemeClr val="tx2"/>
                </a:solidFill>
              </a:rPr>
              <a:t>Task Segmentation:</a:t>
            </a:r>
            <a:r>
              <a:rPr lang="en-US" sz="1400" dirty="0">
                <a:solidFill>
                  <a:schemeClr val="tx2"/>
                </a:solidFill>
              </a:rPr>
              <a:t> Separate "Notifications" from "Clinical Reviews" in the dashboard. Assign dedicated staff to continuous notification-clearing windows throughout the workday to avoid bottlenecks caused by waiting on the clinical review team.</a:t>
            </a:r>
          </a:p>
        </p:txBody>
      </p:sp>
      <p:sp>
        <p:nvSpPr>
          <p:cNvPr id="9" name="Title 8">
            <a:extLst>
              <a:ext uri="{FF2B5EF4-FFF2-40B4-BE49-F238E27FC236}">
                <a16:creationId xmlns:a16="http://schemas.microsoft.com/office/drawing/2014/main" id="{216E4338-EFA1-9830-58BD-0850D75FA4CE}"/>
              </a:ext>
            </a:extLst>
          </p:cNvPr>
          <p:cNvSpPr>
            <a:spLocks noGrp="1"/>
          </p:cNvSpPr>
          <p:nvPr>
            <p:ph type="title"/>
          </p:nvPr>
        </p:nvSpPr>
        <p:spPr>
          <a:xfrm>
            <a:off x="677334" y="132080"/>
            <a:ext cx="10498666" cy="568960"/>
          </a:xfrm>
        </p:spPr>
        <p:txBody>
          <a:bodyPr>
            <a:normAutofit fontScale="90000"/>
          </a:bodyPr>
          <a:lstStyle/>
          <a:p>
            <a:pPr algn="ctr"/>
            <a:r>
              <a:rPr lang="en-US" b="1" dirty="0">
                <a:solidFill>
                  <a:schemeClr val="tx2"/>
                </a:solidFill>
              </a:rPr>
              <a:t>Identify areas of opportunity to increase productivity</a:t>
            </a:r>
            <a:br>
              <a:rPr lang="en-US" dirty="0">
                <a:solidFill>
                  <a:schemeClr val="tx2"/>
                </a:solidFill>
              </a:rPr>
            </a:br>
            <a:endParaRPr lang="en-US" dirty="0"/>
          </a:p>
        </p:txBody>
      </p:sp>
    </p:spTree>
    <p:extLst>
      <p:ext uri="{BB962C8B-B14F-4D97-AF65-F5344CB8AC3E}">
        <p14:creationId xmlns:p14="http://schemas.microsoft.com/office/powerpoint/2010/main" val="191973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AB9B6-9B44-EBC8-75E9-D3C2B7E008BF}"/>
              </a:ext>
            </a:extLst>
          </p:cNvPr>
          <p:cNvSpPr>
            <a:spLocks noGrp="1"/>
          </p:cNvSpPr>
          <p:nvPr>
            <p:ph type="title"/>
          </p:nvPr>
        </p:nvSpPr>
        <p:spPr>
          <a:xfrm>
            <a:off x="536656" y="257907"/>
            <a:ext cx="10903504" cy="756976"/>
          </a:xfrm>
        </p:spPr>
        <p:txBody>
          <a:bodyPr>
            <a:normAutofit fontScale="90000"/>
          </a:bodyPr>
          <a:lstStyle/>
          <a:p>
            <a:pPr algn="ctr"/>
            <a:r>
              <a:rPr lang="en-US" dirty="0">
                <a:solidFill>
                  <a:schemeClr val="tx1"/>
                </a:solidFill>
              </a:rPr>
              <a:t>For Team: Ownership, Accountability &amp; Responsibility</a:t>
            </a:r>
          </a:p>
        </p:txBody>
      </p:sp>
      <p:graphicFrame>
        <p:nvGraphicFramePr>
          <p:cNvPr id="7" name="Diagram 6">
            <a:extLst>
              <a:ext uri="{FF2B5EF4-FFF2-40B4-BE49-F238E27FC236}">
                <a16:creationId xmlns:a16="http://schemas.microsoft.com/office/drawing/2014/main" id="{081FC17C-9D10-6D94-25C5-06E124BBCC2A}"/>
              </a:ext>
            </a:extLst>
          </p:cNvPr>
          <p:cNvGraphicFramePr/>
          <p:nvPr>
            <p:extLst>
              <p:ext uri="{D42A27DB-BD31-4B8C-83A1-F6EECF244321}">
                <p14:modId xmlns:p14="http://schemas.microsoft.com/office/powerpoint/2010/main" val="111649514"/>
              </p:ext>
            </p:extLst>
          </p:nvPr>
        </p:nvGraphicFramePr>
        <p:xfrm>
          <a:off x="394392" y="894304"/>
          <a:ext cx="3182822" cy="33360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5">
            <a:extLst>
              <a:ext uri="{FF2B5EF4-FFF2-40B4-BE49-F238E27FC236}">
                <a16:creationId xmlns:a16="http://schemas.microsoft.com/office/drawing/2014/main" id="{830639B0-9DF2-81D0-A938-D89FE926CB61}"/>
              </a:ext>
            </a:extLst>
          </p:cNvPr>
          <p:cNvSpPr txBox="1">
            <a:spLocks/>
          </p:cNvSpPr>
          <p:nvPr/>
        </p:nvSpPr>
        <p:spPr>
          <a:xfrm>
            <a:off x="5160395" y="1161330"/>
            <a:ext cx="4244862" cy="2707285"/>
          </a:xfrm>
          <a:prstGeom prst="rect">
            <a:avLst/>
          </a:prstGeom>
          <a:solidFill>
            <a:schemeClr val="bg1"/>
          </a:solidFill>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dirty="0"/>
              <a:t>Are you above or below the line?</a:t>
            </a:r>
          </a:p>
          <a:p>
            <a:pPr marL="0" indent="0">
              <a:buFont typeface="Wingdings 3" charset="2"/>
              <a:buNone/>
            </a:pPr>
            <a:r>
              <a:rPr lang="en-US" dirty="0">
                <a:solidFill>
                  <a:srgbClr val="FF0000"/>
                </a:solidFill>
              </a:rPr>
              <a:t>O</a:t>
            </a:r>
            <a:r>
              <a:rPr lang="en-US" dirty="0"/>
              <a:t>wnership</a:t>
            </a:r>
          </a:p>
          <a:p>
            <a:pPr marL="0" indent="0">
              <a:buFont typeface="Wingdings 3" charset="2"/>
              <a:buNone/>
            </a:pPr>
            <a:r>
              <a:rPr lang="en-US" dirty="0">
                <a:solidFill>
                  <a:srgbClr val="FF0000"/>
                </a:solidFill>
              </a:rPr>
              <a:t>A</a:t>
            </a:r>
            <a:r>
              <a:rPr lang="en-US" dirty="0"/>
              <a:t>ccountable</a:t>
            </a:r>
          </a:p>
          <a:p>
            <a:pPr marL="0" indent="0">
              <a:buFont typeface="Wingdings 3" charset="2"/>
              <a:buNone/>
            </a:pPr>
            <a:r>
              <a:rPr lang="en-US" dirty="0">
                <a:solidFill>
                  <a:srgbClr val="FF0000"/>
                </a:solidFill>
              </a:rPr>
              <a:t>R</a:t>
            </a:r>
            <a:r>
              <a:rPr lang="en-US" dirty="0"/>
              <a:t>esponsible</a:t>
            </a:r>
          </a:p>
          <a:p>
            <a:pPr marL="0" indent="0">
              <a:buFont typeface="Wingdings 3" charset="2"/>
              <a:buNone/>
            </a:pPr>
            <a:r>
              <a:rPr lang="en-US" dirty="0"/>
              <a:t>--------------------------------------------------------</a:t>
            </a:r>
          </a:p>
          <a:p>
            <a:pPr marL="0" indent="0">
              <a:buFont typeface="Wingdings 3" charset="2"/>
              <a:buNone/>
            </a:pPr>
            <a:r>
              <a:rPr lang="en-US" dirty="0">
                <a:solidFill>
                  <a:srgbClr val="FF0000"/>
                </a:solidFill>
              </a:rPr>
              <a:t>B</a:t>
            </a:r>
            <a:r>
              <a:rPr lang="en-US" dirty="0"/>
              <a:t>lame</a:t>
            </a:r>
          </a:p>
          <a:p>
            <a:pPr marL="0" indent="0">
              <a:buFont typeface="Wingdings 3" charset="2"/>
              <a:buNone/>
            </a:pPr>
            <a:r>
              <a:rPr lang="en-US" dirty="0">
                <a:solidFill>
                  <a:srgbClr val="FF0000"/>
                </a:solidFill>
              </a:rPr>
              <a:t>E</a:t>
            </a:r>
            <a:r>
              <a:rPr lang="en-US" dirty="0"/>
              <a:t>xcuses</a:t>
            </a:r>
          </a:p>
          <a:p>
            <a:pPr marL="0" indent="0">
              <a:buFont typeface="Wingdings 3" charset="2"/>
              <a:buNone/>
            </a:pPr>
            <a:r>
              <a:rPr lang="en-US" dirty="0">
                <a:solidFill>
                  <a:srgbClr val="FF0000"/>
                </a:solidFill>
              </a:rPr>
              <a:t>D</a:t>
            </a:r>
            <a:r>
              <a:rPr lang="en-US" dirty="0"/>
              <a:t>enial</a:t>
            </a:r>
          </a:p>
        </p:txBody>
      </p:sp>
      <p:sp>
        <p:nvSpPr>
          <p:cNvPr id="13" name="Arrow: Up 12">
            <a:extLst>
              <a:ext uri="{FF2B5EF4-FFF2-40B4-BE49-F238E27FC236}">
                <a16:creationId xmlns:a16="http://schemas.microsoft.com/office/drawing/2014/main" id="{AFC95860-8F9D-ADEA-10FB-13CE22FA0E6A}"/>
              </a:ext>
            </a:extLst>
          </p:cNvPr>
          <p:cNvSpPr/>
          <p:nvPr/>
        </p:nvSpPr>
        <p:spPr>
          <a:xfrm>
            <a:off x="7084088" y="1376625"/>
            <a:ext cx="1024932" cy="1185706"/>
          </a:xfrm>
          <a:prstGeom prst="up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sz="800" dirty="0"/>
              <a:t>VICTOR</a:t>
            </a:r>
          </a:p>
        </p:txBody>
      </p:sp>
      <p:sp>
        <p:nvSpPr>
          <p:cNvPr id="14" name="Arrow: Down 13">
            <a:extLst>
              <a:ext uri="{FF2B5EF4-FFF2-40B4-BE49-F238E27FC236}">
                <a16:creationId xmlns:a16="http://schemas.microsoft.com/office/drawing/2014/main" id="{D6F13C17-211D-97C0-3438-C12B46FC0BEA}"/>
              </a:ext>
            </a:extLst>
          </p:cNvPr>
          <p:cNvSpPr/>
          <p:nvPr/>
        </p:nvSpPr>
        <p:spPr>
          <a:xfrm>
            <a:off x="7114234" y="2703006"/>
            <a:ext cx="944544" cy="1195754"/>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sz="800" dirty="0"/>
              <a:t>VICTIM</a:t>
            </a:r>
          </a:p>
        </p:txBody>
      </p:sp>
      <p:graphicFrame>
        <p:nvGraphicFramePr>
          <p:cNvPr id="15" name="Diagram 14">
            <a:extLst>
              <a:ext uri="{FF2B5EF4-FFF2-40B4-BE49-F238E27FC236}">
                <a16:creationId xmlns:a16="http://schemas.microsoft.com/office/drawing/2014/main" id="{62C4253D-F637-84AF-6CCF-3B873AC679FF}"/>
              </a:ext>
            </a:extLst>
          </p:cNvPr>
          <p:cNvGraphicFramePr/>
          <p:nvPr>
            <p:extLst>
              <p:ext uri="{D42A27DB-BD31-4B8C-83A1-F6EECF244321}">
                <p14:modId xmlns:p14="http://schemas.microsoft.com/office/powerpoint/2010/main" val="668492941"/>
              </p:ext>
            </p:extLst>
          </p:nvPr>
        </p:nvGraphicFramePr>
        <p:xfrm>
          <a:off x="683288" y="813916"/>
          <a:ext cx="3878664" cy="508446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Content Placeholder 5">
            <a:extLst>
              <a:ext uri="{FF2B5EF4-FFF2-40B4-BE49-F238E27FC236}">
                <a16:creationId xmlns:a16="http://schemas.microsoft.com/office/drawing/2014/main" id="{27E693C9-834A-7DC0-4661-58B29D1201FE}"/>
              </a:ext>
            </a:extLst>
          </p:cNvPr>
          <p:cNvSpPr txBox="1">
            <a:spLocks/>
          </p:cNvSpPr>
          <p:nvPr/>
        </p:nvSpPr>
        <p:spPr>
          <a:xfrm>
            <a:off x="4759853" y="4405273"/>
            <a:ext cx="4708761" cy="2382389"/>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Ownership mindset &amp; behavior</a:t>
            </a:r>
          </a:p>
          <a:p>
            <a:r>
              <a:rPr lang="en-US" dirty="0"/>
              <a:t>Doing the job Vs. achieving results</a:t>
            </a:r>
          </a:p>
          <a:p>
            <a:r>
              <a:rPr lang="en-US" dirty="0"/>
              <a:t>Blaming others Vs. taking accountability </a:t>
            </a:r>
          </a:p>
          <a:p>
            <a:r>
              <a:rPr lang="en-US" dirty="0"/>
              <a:t>Responsibility: a foundation for success</a:t>
            </a:r>
          </a:p>
        </p:txBody>
      </p:sp>
    </p:spTree>
    <p:extLst>
      <p:ext uri="{BB962C8B-B14F-4D97-AF65-F5344CB8AC3E}">
        <p14:creationId xmlns:p14="http://schemas.microsoft.com/office/powerpoint/2010/main" val="3278638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C467B6-4646-FA7D-9A48-0B33FB7C4DF6}"/>
              </a:ext>
            </a:extLst>
          </p:cNvPr>
          <p:cNvSpPr>
            <a:spLocks noGrp="1"/>
          </p:cNvSpPr>
          <p:nvPr>
            <p:ph type="title"/>
          </p:nvPr>
        </p:nvSpPr>
        <p:spPr>
          <a:xfrm>
            <a:off x="1286933" y="609600"/>
            <a:ext cx="10197494" cy="847411"/>
          </a:xfrm>
        </p:spPr>
        <p:txBody>
          <a:bodyPr>
            <a:normAutofit/>
          </a:bodyPr>
          <a:lstStyle/>
          <a:p>
            <a:pPr algn="ctr">
              <a:lnSpc>
                <a:spcPct val="90000"/>
              </a:lnSpc>
            </a:pPr>
            <a:r>
              <a:rPr lang="en-US" b="1" dirty="0">
                <a:solidFill>
                  <a:schemeClr val="tx1"/>
                </a:solidFill>
              </a:rPr>
              <a:t>Factors &amp; Strategies for remote leadership</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 name="Content Placeholder 3">
            <a:extLst>
              <a:ext uri="{FF2B5EF4-FFF2-40B4-BE49-F238E27FC236}">
                <a16:creationId xmlns:a16="http://schemas.microsoft.com/office/drawing/2014/main" id="{37ABC839-B799-5EBE-A3F5-F13904369DA6}"/>
              </a:ext>
            </a:extLst>
          </p:cNvPr>
          <p:cNvGraphicFramePr>
            <a:graphicFrameLocks noGrp="1"/>
          </p:cNvGraphicFramePr>
          <p:nvPr>
            <p:ph idx="1"/>
            <p:extLst>
              <p:ext uri="{D42A27DB-BD31-4B8C-83A1-F6EECF244321}">
                <p14:modId xmlns:p14="http://schemas.microsoft.com/office/powerpoint/2010/main" val="4109754579"/>
              </p:ext>
            </p:extLst>
          </p:nvPr>
        </p:nvGraphicFramePr>
        <p:xfrm>
          <a:off x="1256788" y="1647092"/>
          <a:ext cx="9736109" cy="3789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B831D2D7-B6E8-543D-8802-B839CCA84FA4}"/>
              </a:ext>
            </a:extLst>
          </p:cNvPr>
          <p:cNvSpPr txBox="1">
            <a:spLocks/>
          </p:cNvSpPr>
          <p:nvPr/>
        </p:nvSpPr>
        <p:spPr>
          <a:xfrm>
            <a:off x="639952" y="5617030"/>
            <a:ext cx="10463477" cy="532562"/>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b="1" dirty="0">
                <a:solidFill>
                  <a:schemeClr val="accent6"/>
                </a:solidFill>
              </a:rPr>
              <a:t>Empower remote </a:t>
            </a:r>
            <a:r>
              <a:rPr lang="en-US" sz="2800" b="1">
                <a:solidFill>
                  <a:schemeClr val="accent6"/>
                </a:solidFill>
              </a:rPr>
              <a:t>team members </a:t>
            </a:r>
            <a:r>
              <a:rPr lang="en-US" sz="2800" b="1" dirty="0">
                <a:solidFill>
                  <a:schemeClr val="accent6"/>
                </a:solidFill>
              </a:rPr>
              <a:t>to take ownership of their work</a:t>
            </a:r>
          </a:p>
        </p:txBody>
      </p:sp>
    </p:spTree>
    <p:extLst>
      <p:ext uri="{BB962C8B-B14F-4D97-AF65-F5344CB8AC3E}">
        <p14:creationId xmlns:p14="http://schemas.microsoft.com/office/powerpoint/2010/main" val="976510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25C6-3001-8DCD-8FCA-A1C5C0B485CC}"/>
              </a:ext>
            </a:extLst>
          </p:cNvPr>
          <p:cNvSpPr>
            <a:spLocks noGrp="1"/>
          </p:cNvSpPr>
          <p:nvPr>
            <p:ph type="title"/>
          </p:nvPr>
        </p:nvSpPr>
        <p:spPr>
          <a:xfrm>
            <a:off x="677334" y="609600"/>
            <a:ext cx="8596668" cy="646444"/>
          </a:xfrm>
        </p:spPr>
        <p:txBody>
          <a:bodyPr>
            <a:normAutofit fontScale="90000"/>
          </a:bodyPr>
          <a:lstStyle/>
          <a:p>
            <a:r>
              <a:rPr lang="en-US" dirty="0">
                <a:solidFill>
                  <a:schemeClr val="tx1"/>
                </a:solidFill>
              </a:rPr>
              <a:t>Summary</a:t>
            </a:r>
            <a:r>
              <a:rPr lang="en-US" dirty="0"/>
              <a:t> </a:t>
            </a:r>
            <a:br>
              <a:rPr lang="en-US" dirty="0"/>
            </a:br>
            <a:endParaRPr lang="en-US" dirty="0"/>
          </a:p>
        </p:txBody>
      </p:sp>
      <p:sp>
        <p:nvSpPr>
          <p:cNvPr id="32" name="Content Placeholder 5">
            <a:extLst>
              <a:ext uri="{FF2B5EF4-FFF2-40B4-BE49-F238E27FC236}">
                <a16:creationId xmlns:a16="http://schemas.microsoft.com/office/drawing/2014/main" id="{21C09642-5068-E611-2171-064C98D25A33}"/>
              </a:ext>
            </a:extLst>
          </p:cNvPr>
          <p:cNvSpPr txBox="1">
            <a:spLocks/>
          </p:cNvSpPr>
          <p:nvPr/>
        </p:nvSpPr>
        <p:spPr>
          <a:xfrm>
            <a:off x="707301" y="1551541"/>
            <a:ext cx="9190326" cy="4397083"/>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Working remotely isn’t as easy as you think</a:t>
            </a:r>
          </a:p>
          <a:p>
            <a:r>
              <a:rPr lang="en-US" dirty="0"/>
              <a:t>Require lots of self control</a:t>
            </a:r>
          </a:p>
          <a:p>
            <a:r>
              <a:rPr lang="en-US" dirty="0"/>
              <a:t>Clear communication</a:t>
            </a:r>
          </a:p>
          <a:p>
            <a:r>
              <a:rPr lang="en-US" dirty="0"/>
              <a:t>Trust your people</a:t>
            </a:r>
          </a:p>
          <a:p>
            <a:r>
              <a:rPr lang="en-US" dirty="0"/>
              <a:t>When in doubt, speak openly</a:t>
            </a:r>
          </a:p>
          <a:p>
            <a:r>
              <a:rPr lang="en-US" dirty="0"/>
              <a:t>Care about the team</a:t>
            </a:r>
          </a:p>
          <a:p>
            <a:r>
              <a:rPr lang="en-US" dirty="0"/>
              <a:t>Support work-life balance</a:t>
            </a:r>
          </a:p>
          <a:p>
            <a:pPr marL="0" indent="0">
              <a:buFont typeface="Wingdings 3" charset="2"/>
              <a:buNone/>
            </a:pPr>
            <a:endParaRPr lang="en-US" dirty="0"/>
          </a:p>
        </p:txBody>
      </p:sp>
    </p:spTree>
    <p:extLst>
      <p:ext uri="{BB962C8B-B14F-4D97-AF65-F5344CB8AC3E}">
        <p14:creationId xmlns:p14="http://schemas.microsoft.com/office/powerpoint/2010/main" val="241275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BC79-BFDC-E271-0B29-144D3E36AF2D}"/>
              </a:ext>
            </a:extLst>
          </p:cNvPr>
          <p:cNvSpPr>
            <a:spLocks noGrp="1"/>
          </p:cNvSpPr>
          <p:nvPr>
            <p:ph type="title"/>
          </p:nvPr>
        </p:nvSpPr>
        <p:spPr>
          <a:xfrm>
            <a:off x="677334" y="609600"/>
            <a:ext cx="8596668" cy="697992"/>
          </a:xfrm>
        </p:spPr>
        <p:txBody>
          <a:bodyPr>
            <a:normAutofit fontScale="90000"/>
          </a:bodyPr>
          <a:lstStyle/>
          <a:p>
            <a:r>
              <a:rPr lang="en-US" dirty="0"/>
              <a:t>Questions</a:t>
            </a:r>
            <a:br>
              <a:rPr lang="en-US" dirty="0"/>
            </a:br>
            <a:endParaRPr lang="en-US" dirty="0"/>
          </a:p>
        </p:txBody>
      </p:sp>
      <p:pic>
        <p:nvPicPr>
          <p:cNvPr id="7" name="Content Placeholder 6">
            <a:extLst>
              <a:ext uri="{FF2B5EF4-FFF2-40B4-BE49-F238E27FC236}">
                <a16:creationId xmlns:a16="http://schemas.microsoft.com/office/drawing/2014/main" id="{ABD6C6D4-2574-637F-623F-061A90DB6EB2}"/>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23950" y="1485900"/>
            <a:ext cx="8150052" cy="4486275"/>
          </a:xfrm>
        </p:spPr>
      </p:pic>
    </p:spTree>
    <p:extLst>
      <p:ext uri="{BB962C8B-B14F-4D97-AF65-F5344CB8AC3E}">
        <p14:creationId xmlns:p14="http://schemas.microsoft.com/office/powerpoint/2010/main" val="27705630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861</TotalTime>
  <Words>1699</Words>
  <Application>Microsoft Office PowerPoint</Application>
  <PresentationFormat>Widescreen</PresentationFormat>
  <Paragraphs>212</Paragraphs>
  <Slides>16</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Abadi</vt:lpstr>
      <vt:lpstr>Aptos</vt:lpstr>
      <vt:lpstr>Aptos Narrow</vt:lpstr>
      <vt:lpstr>Arial</vt:lpstr>
      <vt:lpstr>Courier New</vt:lpstr>
      <vt:lpstr>Trebuchet MS</vt:lpstr>
      <vt:lpstr>Wingdings</vt:lpstr>
      <vt:lpstr>Wingdings 3</vt:lpstr>
      <vt:lpstr>Facet</vt:lpstr>
      <vt:lpstr>Remote Team Member’s  Productivity Trends for Year 2025</vt:lpstr>
      <vt:lpstr>Python Libraries</vt:lpstr>
      <vt:lpstr>Definitions </vt:lpstr>
      <vt:lpstr>2025 Quantitative &amp; Qualitative Metrics </vt:lpstr>
      <vt:lpstr>Objectives</vt:lpstr>
      <vt:lpstr>Overall Average Time Utilized to Complete a Task </vt:lpstr>
      <vt:lpstr>Average Time Utilized to Complete Core Tasks</vt:lpstr>
      <vt:lpstr>Average Total # of Tasks Completed by Team Members on Daily Basis</vt:lpstr>
      <vt:lpstr>Average Total # of Tasks Completed by Team Members on Monthly Basis</vt:lpstr>
      <vt:lpstr>Hourly Productivity of Team Members for a Random Month  </vt:lpstr>
      <vt:lpstr>Notification &amp; Clinical Review Task Comparison</vt:lpstr>
      <vt:lpstr>Identify areas of opportunity to increase productivity </vt:lpstr>
      <vt:lpstr>For Team: Ownership, Accountability &amp; Responsibility</vt:lpstr>
      <vt:lpstr>Factors &amp; Strategies for remote leadership</vt:lpstr>
      <vt:lpstr>Summary  </vt:lpstr>
      <vt:lpstr>Questions </vt:lpstr>
    </vt:vector>
  </TitlesOfParts>
  <Company>HF Management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 Archana</dc:creator>
  <cp:lastModifiedBy>Shah, Archana</cp:lastModifiedBy>
  <cp:revision>65</cp:revision>
  <dcterms:created xsi:type="dcterms:W3CDTF">2026-06-01T08:27:21Z</dcterms:created>
  <dcterms:modified xsi:type="dcterms:W3CDTF">2026-06-07T13:55:15Z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882f12-421b-44e0-be57-0bd76256c3e5_Enabled">
    <vt:lpwstr>true</vt:lpwstr>
  </property>
  <property fmtid="{D5CDD505-2E9C-101B-9397-08002B2CF9AE}" pid="3" name="MSIP_Label_f4882f12-421b-44e0-be57-0bd76256c3e5_SetDate">
    <vt:lpwstr>2026-06-01T09:10:22Z</vt:lpwstr>
  </property>
  <property fmtid="{D5CDD505-2E9C-101B-9397-08002B2CF9AE}" pid="4" name="MSIP_Label_f4882f12-421b-44e0-be57-0bd76256c3e5_Method">
    <vt:lpwstr>Standard</vt:lpwstr>
  </property>
  <property fmtid="{D5CDD505-2E9C-101B-9397-08002B2CF9AE}" pid="5" name="MSIP_Label_f4882f12-421b-44e0-be57-0bd76256c3e5_Name">
    <vt:lpwstr>General Business Data</vt:lpwstr>
  </property>
  <property fmtid="{D5CDD505-2E9C-101B-9397-08002B2CF9AE}" pid="6" name="MSIP_Label_f4882f12-421b-44e0-be57-0bd76256c3e5_SiteId">
    <vt:lpwstr>7697727b-2a23-4f42-a66c-02ef2bb7fd6b</vt:lpwstr>
  </property>
  <property fmtid="{D5CDD505-2E9C-101B-9397-08002B2CF9AE}" pid="7" name="MSIP_Label_f4882f12-421b-44e0-be57-0bd76256c3e5_ActionId">
    <vt:lpwstr>3a663d0a-a055-48a8-b51c-dceabec3b134</vt:lpwstr>
  </property>
  <property fmtid="{D5CDD505-2E9C-101B-9397-08002B2CF9AE}" pid="8" name="MSIP_Label_f4882f12-421b-44e0-be57-0bd76256c3e5_ContentBits">
    <vt:lpwstr>0</vt:lpwstr>
  </property>
  <property fmtid="{D5CDD505-2E9C-101B-9397-08002B2CF9AE}" pid="9" name="MSIP_Label_f4882f12-421b-44e0-be57-0bd76256c3e5_Tag">
    <vt:lpwstr>10, 3, 0, 1</vt:lpwstr>
  </property>
</Properties>
</file>